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9" r:id="rId4"/>
    <p:sldId id="270" r:id="rId5"/>
    <p:sldId id="271" r:id="rId6"/>
    <p:sldId id="337" r:id="rId7"/>
    <p:sldId id="341" r:id="rId8"/>
    <p:sldId id="273" r:id="rId9"/>
    <p:sldId id="276" r:id="rId10"/>
    <p:sldId id="339" r:id="rId11"/>
    <p:sldId id="338" r:id="rId12"/>
    <p:sldId id="275" r:id="rId13"/>
    <p:sldId id="342" r:id="rId14"/>
    <p:sldId id="277" r:id="rId15"/>
    <p:sldId id="343" r:id="rId16"/>
    <p:sldId id="344" r:id="rId17"/>
    <p:sldId id="274" r:id="rId18"/>
    <p:sldId id="340" r:id="rId19"/>
    <p:sldId id="291" r:id="rId20"/>
    <p:sldId id="345" r:id="rId21"/>
    <p:sldId id="293" r:id="rId22"/>
    <p:sldId id="298" r:id="rId23"/>
    <p:sldId id="292" r:id="rId24"/>
    <p:sldId id="294" r:id="rId25"/>
    <p:sldId id="295" r:id="rId26"/>
    <p:sldId id="347" r:id="rId27"/>
    <p:sldId id="296" r:id="rId28"/>
    <p:sldId id="297" r:id="rId29"/>
    <p:sldId id="299" r:id="rId30"/>
    <p:sldId id="300" r:id="rId31"/>
    <p:sldId id="310" r:id="rId32"/>
    <p:sldId id="311" r:id="rId33"/>
    <p:sldId id="312" r:id="rId34"/>
    <p:sldId id="313" r:id="rId35"/>
    <p:sldId id="314" r:id="rId36"/>
    <p:sldId id="315" r:id="rId37"/>
    <p:sldId id="318" r:id="rId38"/>
    <p:sldId id="328" r:id="rId39"/>
    <p:sldId id="329" r:id="rId40"/>
    <p:sldId id="330" r:id="rId41"/>
    <p:sldId id="331" r:id="rId42"/>
    <p:sldId id="332" r:id="rId43"/>
    <p:sldId id="333" r:id="rId44"/>
    <p:sldId id="334" r:id="rId45"/>
    <p:sldId id="335" r:id="rId46"/>
    <p:sldId id="336" r:id="rId47"/>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67B687-E8D1-4AA5-A09D-83FA96E7BAC5}" v="6" dt="2026-04-04T18:11:19.7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72"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las Svidén" userId="12df9cec-6e8a-475c-a516-0e5970cfd82d" providerId="ADAL" clId="{B66AA38D-8DED-4E37-A372-07269DF1C247}"/>
    <pc:docChg chg="custSel addSld delSld modSld sldOrd">
      <pc:chgData name="Niklas Svidén" userId="12df9cec-6e8a-475c-a516-0e5970cfd82d" providerId="ADAL" clId="{B66AA38D-8DED-4E37-A372-07269DF1C247}" dt="2026-04-04T18:29:19.040" v="5057" actId="20577"/>
      <pc:docMkLst>
        <pc:docMk/>
      </pc:docMkLst>
      <pc:sldChg chg="modSp mod">
        <pc:chgData name="Niklas Svidén" userId="12df9cec-6e8a-475c-a516-0e5970cfd82d" providerId="ADAL" clId="{B66AA38D-8DED-4E37-A372-07269DF1C247}" dt="2026-04-04T18:00:32.719" v="2813" actId="20577"/>
        <pc:sldMkLst>
          <pc:docMk/>
          <pc:sldMk cId="2365334697" sldId="271"/>
        </pc:sldMkLst>
        <pc:spChg chg="mod">
          <ac:chgData name="Niklas Svidén" userId="12df9cec-6e8a-475c-a516-0e5970cfd82d" providerId="ADAL" clId="{B66AA38D-8DED-4E37-A372-07269DF1C247}" dt="2026-04-04T18:00:32.719" v="2813" actId="20577"/>
          <ac:spMkLst>
            <pc:docMk/>
            <pc:sldMk cId="2365334697" sldId="271"/>
            <ac:spMk id="3" creationId="{FB9A9758-602E-012A-0320-1FD116DCC5B2}"/>
          </ac:spMkLst>
        </pc:spChg>
      </pc:sldChg>
      <pc:sldChg chg="del">
        <pc:chgData name="Niklas Svidén" userId="12df9cec-6e8a-475c-a516-0e5970cfd82d" providerId="ADAL" clId="{B66AA38D-8DED-4E37-A372-07269DF1C247}" dt="2026-04-04T17:55:23.005" v="2666" actId="47"/>
        <pc:sldMkLst>
          <pc:docMk/>
          <pc:sldMk cId="1066104017" sldId="272"/>
        </pc:sldMkLst>
      </pc:sldChg>
      <pc:sldChg chg="modSp mod">
        <pc:chgData name="Niklas Svidén" userId="12df9cec-6e8a-475c-a516-0e5970cfd82d" providerId="ADAL" clId="{B66AA38D-8DED-4E37-A372-07269DF1C247}" dt="2026-04-04T18:04:10.940" v="3037" actId="20577"/>
        <pc:sldMkLst>
          <pc:docMk/>
          <pc:sldMk cId="438126558" sldId="274"/>
        </pc:sldMkLst>
        <pc:spChg chg="mod">
          <ac:chgData name="Niklas Svidén" userId="12df9cec-6e8a-475c-a516-0e5970cfd82d" providerId="ADAL" clId="{B66AA38D-8DED-4E37-A372-07269DF1C247}" dt="2026-04-04T18:03:55.760" v="2958" actId="20577"/>
          <ac:spMkLst>
            <pc:docMk/>
            <pc:sldMk cId="438126558" sldId="274"/>
            <ac:spMk id="2" creationId="{E7EC35B8-248E-C727-B6B4-E65A4E715729}"/>
          </ac:spMkLst>
        </pc:spChg>
        <pc:spChg chg="mod">
          <ac:chgData name="Niklas Svidén" userId="12df9cec-6e8a-475c-a516-0e5970cfd82d" providerId="ADAL" clId="{B66AA38D-8DED-4E37-A372-07269DF1C247}" dt="2026-04-04T18:04:10.940" v="3037" actId="20577"/>
          <ac:spMkLst>
            <pc:docMk/>
            <pc:sldMk cId="438126558" sldId="274"/>
            <ac:spMk id="3" creationId="{71D28DB7-5638-2CED-B742-7540C2898386}"/>
          </ac:spMkLst>
        </pc:spChg>
      </pc:sldChg>
      <pc:sldChg chg="ord">
        <pc:chgData name="Niklas Svidén" userId="12df9cec-6e8a-475c-a516-0e5970cfd82d" providerId="ADAL" clId="{B66AA38D-8DED-4E37-A372-07269DF1C247}" dt="2026-04-04T17:59:20.495" v="2772"/>
        <pc:sldMkLst>
          <pc:docMk/>
          <pc:sldMk cId="1011662917" sldId="275"/>
        </pc:sldMkLst>
      </pc:sldChg>
      <pc:sldChg chg="modSp mod ord">
        <pc:chgData name="Niklas Svidén" userId="12df9cec-6e8a-475c-a516-0e5970cfd82d" providerId="ADAL" clId="{B66AA38D-8DED-4E37-A372-07269DF1C247}" dt="2026-04-04T18:03:01.992" v="2938"/>
        <pc:sldMkLst>
          <pc:docMk/>
          <pc:sldMk cId="2983741564" sldId="276"/>
        </pc:sldMkLst>
        <pc:spChg chg="mod">
          <ac:chgData name="Niklas Svidén" userId="12df9cec-6e8a-475c-a516-0e5970cfd82d" providerId="ADAL" clId="{B66AA38D-8DED-4E37-A372-07269DF1C247}" dt="2026-04-04T17:56:45.123" v="2709" actId="20577"/>
          <ac:spMkLst>
            <pc:docMk/>
            <pc:sldMk cId="2983741564" sldId="276"/>
            <ac:spMk id="2" creationId="{612CD0C5-3AE9-0D6F-9AA0-7D72A9CA5BB6}"/>
          </ac:spMkLst>
        </pc:spChg>
        <pc:spChg chg="mod">
          <ac:chgData name="Niklas Svidén" userId="12df9cec-6e8a-475c-a516-0e5970cfd82d" providerId="ADAL" clId="{B66AA38D-8DED-4E37-A372-07269DF1C247}" dt="2026-04-04T17:57:16.480" v="2766" actId="20577"/>
          <ac:spMkLst>
            <pc:docMk/>
            <pc:sldMk cId="2983741564" sldId="276"/>
            <ac:spMk id="3" creationId="{3E13CB79-D354-1545-420F-41AD3737786C}"/>
          </ac:spMkLst>
        </pc:spChg>
      </pc:sldChg>
      <pc:sldChg chg="del">
        <pc:chgData name="Niklas Svidén" userId="12df9cec-6e8a-475c-a516-0e5970cfd82d" providerId="ADAL" clId="{B66AA38D-8DED-4E37-A372-07269DF1C247}" dt="2026-04-04T17:58:22.054" v="2767" actId="47"/>
        <pc:sldMkLst>
          <pc:docMk/>
          <pc:sldMk cId="2478534943" sldId="278"/>
        </pc:sldMkLst>
      </pc:sldChg>
      <pc:sldChg chg="modSp del mod ord">
        <pc:chgData name="Niklas Svidén" userId="12df9cec-6e8a-475c-a516-0e5970cfd82d" providerId="ADAL" clId="{B66AA38D-8DED-4E37-A372-07269DF1C247}" dt="2026-04-04T18:02:10.675" v="2934" actId="47"/>
        <pc:sldMkLst>
          <pc:docMk/>
          <pc:sldMk cId="1295245739" sldId="279"/>
        </pc:sldMkLst>
        <pc:spChg chg="mod">
          <ac:chgData name="Niklas Svidén" userId="12df9cec-6e8a-475c-a516-0e5970cfd82d" providerId="ADAL" clId="{B66AA38D-8DED-4E37-A372-07269DF1C247}" dt="2026-04-04T18:00:01.046" v="2802" actId="20577"/>
          <ac:spMkLst>
            <pc:docMk/>
            <pc:sldMk cId="1295245739" sldId="279"/>
            <ac:spMk id="2" creationId="{8EF6E5ED-8F10-04B4-E43A-4A0D9328AB2B}"/>
          </ac:spMkLst>
        </pc:spChg>
        <pc:spChg chg="mod">
          <ac:chgData name="Niklas Svidén" userId="12df9cec-6e8a-475c-a516-0e5970cfd82d" providerId="ADAL" clId="{B66AA38D-8DED-4E37-A372-07269DF1C247}" dt="2026-04-04T17:59:56.165" v="2785" actId="20577"/>
          <ac:spMkLst>
            <pc:docMk/>
            <pc:sldMk cId="1295245739" sldId="279"/>
            <ac:spMk id="3" creationId="{3DACDB2B-12AC-1647-C216-F7F9F0AEE0D0}"/>
          </ac:spMkLst>
        </pc:spChg>
      </pc:sldChg>
      <pc:sldChg chg="del">
        <pc:chgData name="Niklas Svidén" userId="12df9cec-6e8a-475c-a516-0e5970cfd82d" providerId="ADAL" clId="{B66AA38D-8DED-4E37-A372-07269DF1C247}" dt="2026-04-04T17:58:29.321" v="2768" actId="47"/>
        <pc:sldMkLst>
          <pc:docMk/>
          <pc:sldMk cId="1977024977" sldId="280"/>
        </pc:sldMkLst>
      </pc:sldChg>
      <pc:sldChg chg="modSp mod">
        <pc:chgData name="Niklas Svidén" userId="12df9cec-6e8a-475c-a516-0e5970cfd82d" providerId="ADAL" clId="{B66AA38D-8DED-4E37-A372-07269DF1C247}" dt="2026-04-04T18:06:11.098" v="3274" actId="20577"/>
        <pc:sldMkLst>
          <pc:docMk/>
          <pc:sldMk cId="1517893757" sldId="291"/>
        </pc:sldMkLst>
        <pc:spChg chg="mod">
          <ac:chgData name="Niklas Svidén" userId="12df9cec-6e8a-475c-a516-0e5970cfd82d" providerId="ADAL" clId="{B66AA38D-8DED-4E37-A372-07269DF1C247}" dt="2026-04-04T18:05:29.338" v="3119" actId="20577"/>
          <ac:spMkLst>
            <pc:docMk/>
            <pc:sldMk cId="1517893757" sldId="291"/>
            <ac:spMk id="2" creationId="{3157D4DC-6BF9-0583-612F-0AF536783EF0}"/>
          </ac:spMkLst>
        </pc:spChg>
        <pc:spChg chg="mod">
          <ac:chgData name="Niklas Svidén" userId="12df9cec-6e8a-475c-a516-0e5970cfd82d" providerId="ADAL" clId="{B66AA38D-8DED-4E37-A372-07269DF1C247}" dt="2026-04-04T18:06:11.098" v="3274" actId="20577"/>
          <ac:spMkLst>
            <pc:docMk/>
            <pc:sldMk cId="1517893757" sldId="291"/>
            <ac:spMk id="3" creationId="{E650B59B-D809-60D4-014B-C21547C3EEC6}"/>
          </ac:spMkLst>
        </pc:spChg>
      </pc:sldChg>
      <pc:sldChg chg="modSp mod">
        <pc:chgData name="Niklas Svidén" userId="12df9cec-6e8a-475c-a516-0e5970cfd82d" providerId="ADAL" clId="{B66AA38D-8DED-4E37-A372-07269DF1C247}" dt="2026-04-04T18:09:16.204" v="3662" actId="20577"/>
        <pc:sldMkLst>
          <pc:docMk/>
          <pc:sldMk cId="1732519575" sldId="292"/>
        </pc:sldMkLst>
        <pc:spChg chg="mod">
          <ac:chgData name="Niklas Svidén" userId="12df9cec-6e8a-475c-a516-0e5970cfd82d" providerId="ADAL" clId="{B66AA38D-8DED-4E37-A372-07269DF1C247}" dt="2026-04-04T18:06:39.263" v="3293" actId="20577"/>
          <ac:spMkLst>
            <pc:docMk/>
            <pc:sldMk cId="1732519575" sldId="292"/>
            <ac:spMk id="2" creationId="{90F95E3E-2CE8-D8CF-AF79-FE93CF8C77BC}"/>
          </ac:spMkLst>
        </pc:spChg>
        <pc:spChg chg="mod">
          <ac:chgData name="Niklas Svidén" userId="12df9cec-6e8a-475c-a516-0e5970cfd82d" providerId="ADAL" clId="{B66AA38D-8DED-4E37-A372-07269DF1C247}" dt="2026-04-04T18:09:16.204" v="3662" actId="20577"/>
          <ac:spMkLst>
            <pc:docMk/>
            <pc:sldMk cId="1732519575" sldId="292"/>
            <ac:spMk id="3" creationId="{2C2EFA84-8A71-DCE8-ED0C-B19AA9EE5609}"/>
          </ac:spMkLst>
        </pc:spChg>
      </pc:sldChg>
      <pc:sldChg chg="ord">
        <pc:chgData name="Niklas Svidén" userId="12df9cec-6e8a-475c-a516-0e5970cfd82d" providerId="ADAL" clId="{B66AA38D-8DED-4E37-A372-07269DF1C247}" dt="2026-04-04T18:09:31.693" v="3664"/>
        <pc:sldMkLst>
          <pc:docMk/>
          <pc:sldMk cId="379506497" sldId="293"/>
        </pc:sldMkLst>
      </pc:sldChg>
      <pc:sldChg chg="modSp mod">
        <pc:chgData name="Niklas Svidén" userId="12df9cec-6e8a-475c-a516-0e5970cfd82d" providerId="ADAL" clId="{B66AA38D-8DED-4E37-A372-07269DF1C247}" dt="2026-04-04T18:17:15.312" v="4414" actId="20577"/>
        <pc:sldMkLst>
          <pc:docMk/>
          <pc:sldMk cId="341565783" sldId="294"/>
        </pc:sldMkLst>
        <pc:spChg chg="mod">
          <ac:chgData name="Niklas Svidén" userId="12df9cec-6e8a-475c-a516-0e5970cfd82d" providerId="ADAL" clId="{B66AA38D-8DED-4E37-A372-07269DF1C247}" dt="2026-04-04T18:17:15.312" v="4414" actId="20577"/>
          <ac:spMkLst>
            <pc:docMk/>
            <pc:sldMk cId="341565783" sldId="294"/>
            <ac:spMk id="2" creationId="{FC151E80-2791-2960-6E3B-1823340E577B}"/>
          </ac:spMkLst>
        </pc:spChg>
        <pc:spChg chg="mod">
          <ac:chgData name="Niklas Svidén" userId="12df9cec-6e8a-475c-a516-0e5970cfd82d" providerId="ADAL" clId="{B66AA38D-8DED-4E37-A372-07269DF1C247}" dt="2026-04-04T18:14:36.095" v="4206" actId="20577"/>
          <ac:spMkLst>
            <pc:docMk/>
            <pc:sldMk cId="341565783" sldId="294"/>
            <ac:spMk id="3" creationId="{0098A08D-1812-AA96-BF50-0723BD8A8DC8}"/>
          </ac:spMkLst>
        </pc:spChg>
      </pc:sldChg>
      <pc:sldChg chg="modSp mod">
        <pc:chgData name="Niklas Svidén" userId="12df9cec-6e8a-475c-a516-0e5970cfd82d" providerId="ADAL" clId="{B66AA38D-8DED-4E37-A372-07269DF1C247}" dt="2026-04-04T18:12:15.458" v="3845" actId="20577"/>
        <pc:sldMkLst>
          <pc:docMk/>
          <pc:sldMk cId="12080643" sldId="295"/>
        </pc:sldMkLst>
        <pc:spChg chg="mod">
          <ac:chgData name="Niklas Svidén" userId="12df9cec-6e8a-475c-a516-0e5970cfd82d" providerId="ADAL" clId="{B66AA38D-8DED-4E37-A372-07269DF1C247}" dt="2026-04-04T18:12:15.458" v="3845" actId="20577"/>
          <ac:spMkLst>
            <pc:docMk/>
            <pc:sldMk cId="12080643" sldId="295"/>
            <ac:spMk id="3" creationId="{47D5EF7D-82A1-A431-4A4D-05EC2248B144}"/>
          </ac:spMkLst>
        </pc:spChg>
      </pc:sldChg>
      <pc:sldChg chg="modSp mod">
        <pc:chgData name="Niklas Svidén" userId="12df9cec-6e8a-475c-a516-0e5970cfd82d" providerId="ADAL" clId="{B66AA38D-8DED-4E37-A372-07269DF1C247}" dt="2026-04-04T18:11:37.166" v="3724" actId="20577"/>
        <pc:sldMkLst>
          <pc:docMk/>
          <pc:sldMk cId="2055867525" sldId="296"/>
        </pc:sldMkLst>
        <pc:spChg chg="mod">
          <ac:chgData name="Niklas Svidén" userId="12df9cec-6e8a-475c-a516-0e5970cfd82d" providerId="ADAL" clId="{B66AA38D-8DED-4E37-A372-07269DF1C247}" dt="2026-04-04T18:11:37.166" v="3724" actId="20577"/>
          <ac:spMkLst>
            <pc:docMk/>
            <pc:sldMk cId="2055867525" sldId="296"/>
            <ac:spMk id="3" creationId="{E5694B85-D190-841E-7794-31ABD2CB72D1}"/>
          </ac:spMkLst>
        </pc:spChg>
      </pc:sldChg>
      <pc:sldChg chg="modSp mod">
        <pc:chgData name="Niklas Svidén" userId="12df9cec-6e8a-475c-a516-0e5970cfd82d" providerId="ADAL" clId="{B66AA38D-8DED-4E37-A372-07269DF1C247}" dt="2026-04-04T18:11:26.306" v="3723" actId="20577"/>
        <pc:sldMkLst>
          <pc:docMk/>
          <pc:sldMk cId="2349096847" sldId="297"/>
        </pc:sldMkLst>
        <pc:spChg chg="mod">
          <ac:chgData name="Niklas Svidén" userId="12df9cec-6e8a-475c-a516-0e5970cfd82d" providerId="ADAL" clId="{B66AA38D-8DED-4E37-A372-07269DF1C247}" dt="2026-04-04T18:11:26.306" v="3723" actId="20577"/>
          <ac:spMkLst>
            <pc:docMk/>
            <pc:sldMk cId="2349096847" sldId="297"/>
            <ac:spMk id="3" creationId="{77E24AD3-932A-6EE3-6CBA-45DC947B896A}"/>
          </ac:spMkLst>
        </pc:spChg>
      </pc:sldChg>
      <pc:sldChg chg="modSp mod ord">
        <pc:chgData name="Niklas Svidén" userId="12df9cec-6e8a-475c-a516-0e5970cfd82d" providerId="ADAL" clId="{B66AA38D-8DED-4E37-A372-07269DF1C247}" dt="2026-04-04T18:13:08.187" v="3858" actId="20577"/>
        <pc:sldMkLst>
          <pc:docMk/>
          <pc:sldMk cId="2363739684" sldId="298"/>
        </pc:sldMkLst>
        <pc:spChg chg="mod">
          <ac:chgData name="Niklas Svidén" userId="12df9cec-6e8a-475c-a516-0e5970cfd82d" providerId="ADAL" clId="{B66AA38D-8DED-4E37-A372-07269DF1C247}" dt="2026-04-04T18:13:08.187" v="3858" actId="20577"/>
          <ac:spMkLst>
            <pc:docMk/>
            <pc:sldMk cId="2363739684" sldId="298"/>
            <ac:spMk id="2" creationId="{3332D718-28A0-0C24-11E7-B66B12578490}"/>
          </ac:spMkLst>
        </pc:spChg>
      </pc:sldChg>
      <pc:sldChg chg="modSp mod">
        <pc:chgData name="Niklas Svidén" userId="12df9cec-6e8a-475c-a516-0e5970cfd82d" providerId="ADAL" clId="{B66AA38D-8DED-4E37-A372-07269DF1C247}" dt="2026-04-04T18:15:09.796" v="4275" actId="20577"/>
        <pc:sldMkLst>
          <pc:docMk/>
          <pc:sldMk cId="3870854555" sldId="300"/>
        </pc:sldMkLst>
        <pc:spChg chg="mod">
          <ac:chgData name="Niklas Svidén" userId="12df9cec-6e8a-475c-a516-0e5970cfd82d" providerId="ADAL" clId="{B66AA38D-8DED-4E37-A372-07269DF1C247}" dt="2026-04-04T18:15:09.796" v="4275" actId="20577"/>
          <ac:spMkLst>
            <pc:docMk/>
            <pc:sldMk cId="3870854555" sldId="300"/>
            <ac:spMk id="3" creationId="{7F01AC27-63E5-BECC-92FF-F3BD341F45D2}"/>
          </ac:spMkLst>
        </pc:spChg>
      </pc:sldChg>
      <pc:sldChg chg="modSp mod">
        <pc:chgData name="Niklas Svidén" userId="12df9cec-6e8a-475c-a516-0e5970cfd82d" providerId="ADAL" clId="{B66AA38D-8DED-4E37-A372-07269DF1C247}" dt="2026-04-04T18:23:31.860" v="4901" actId="20577"/>
        <pc:sldMkLst>
          <pc:docMk/>
          <pc:sldMk cId="2313784423" sldId="310"/>
        </pc:sldMkLst>
        <pc:spChg chg="mod">
          <ac:chgData name="Niklas Svidén" userId="12df9cec-6e8a-475c-a516-0e5970cfd82d" providerId="ADAL" clId="{B66AA38D-8DED-4E37-A372-07269DF1C247}" dt="2026-04-04T18:16:30.066" v="4301" actId="20577"/>
          <ac:spMkLst>
            <pc:docMk/>
            <pc:sldMk cId="2313784423" sldId="310"/>
            <ac:spMk id="2" creationId="{615A07C9-EEFC-A0D8-4FFF-13EB606A9D2D}"/>
          </ac:spMkLst>
        </pc:spChg>
        <pc:spChg chg="mod">
          <ac:chgData name="Niklas Svidén" userId="12df9cec-6e8a-475c-a516-0e5970cfd82d" providerId="ADAL" clId="{B66AA38D-8DED-4E37-A372-07269DF1C247}" dt="2026-04-04T18:23:31.860" v="4901" actId="20577"/>
          <ac:spMkLst>
            <pc:docMk/>
            <pc:sldMk cId="2313784423" sldId="310"/>
            <ac:spMk id="3" creationId="{23F07794-782F-9BCA-F1F9-98695E6FD7E7}"/>
          </ac:spMkLst>
        </pc:spChg>
      </pc:sldChg>
      <pc:sldChg chg="modSp mod">
        <pc:chgData name="Niklas Svidén" userId="12df9cec-6e8a-475c-a516-0e5970cfd82d" providerId="ADAL" clId="{B66AA38D-8DED-4E37-A372-07269DF1C247}" dt="2026-04-04T18:29:19.040" v="5057" actId="20577"/>
        <pc:sldMkLst>
          <pc:docMk/>
          <pc:sldMk cId="263141837" sldId="315"/>
        </pc:sldMkLst>
        <pc:spChg chg="mod">
          <ac:chgData name="Niklas Svidén" userId="12df9cec-6e8a-475c-a516-0e5970cfd82d" providerId="ADAL" clId="{B66AA38D-8DED-4E37-A372-07269DF1C247}" dt="2026-04-04T18:29:19.040" v="5057" actId="20577"/>
          <ac:spMkLst>
            <pc:docMk/>
            <pc:sldMk cId="263141837" sldId="315"/>
            <ac:spMk id="3" creationId="{1F2EA93A-6B39-060F-8522-082EE59F4318}"/>
          </ac:spMkLst>
        </pc:spChg>
      </pc:sldChg>
      <pc:sldChg chg="del">
        <pc:chgData name="Niklas Svidén" userId="12df9cec-6e8a-475c-a516-0e5970cfd82d" providerId="ADAL" clId="{B66AA38D-8DED-4E37-A372-07269DF1C247}" dt="2026-04-04T18:28:18.313" v="4902" actId="47"/>
        <pc:sldMkLst>
          <pc:docMk/>
          <pc:sldMk cId="2204150404" sldId="316"/>
        </pc:sldMkLst>
      </pc:sldChg>
      <pc:sldChg chg="del">
        <pc:chgData name="Niklas Svidén" userId="12df9cec-6e8a-475c-a516-0e5970cfd82d" providerId="ADAL" clId="{B66AA38D-8DED-4E37-A372-07269DF1C247}" dt="2026-04-04T18:28:24.970" v="4903" actId="47"/>
        <pc:sldMkLst>
          <pc:docMk/>
          <pc:sldMk cId="3062377671" sldId="317"/>
        </pc:sldMkLst>
      </pc:sldChg>
      <pc:sldChg chg="modSp mod">
        <pc:chgData name="Niklas Svidén" userId="12df9cec-6e8a-475c-a516-0e5970cfd82d" providerId="ADAL" clId="{B66AA38D-8DED-4E37-A372-07269DF1C247}" dt="2026-04-04T18:01:24.407" v="2931" actId="20577"/>
        <pc:sldMkLst>
          <pc:docMk/>
          <pc:sldMk cId="1878728989" sldId="337"/>
        </pc:sldMkLst>
        <pc:spChg chg="mod">
          <ac:chgData name="Niklas Svidén" userId="12df9cec-6e8a-475c-a516-0e5970cfd82d" providerId="ADAL" clId="{B66AA38D-8DED-4E37-A372-07269DF1C247}" dt="2026-04-04T18:01:24.407" v="2931" actId="20577"/>
          <ac:spMkLst>
            <pc:docMk/>
            <pc:sldMk cId="1878728989" sldId="337"/>
            <ac:spMk id="3" creationId="{94E3C890-7050-CDF2-9B0B-B07023B10D09}"/>
          </ac:spMkLst>
        </pc:spChg>
      </pc:sldChg>
      <pc:sldChg chg="modSp mod">
        <pc:chgData name="Niklas Svidén" userId="12df9cec-6e8a-475c-a516-0e5970cfd82d" providerId="ADAL" clId="{B66AA38D-8DED-4E37-A372-07269DF1C247}" dt="2026-04-04T17:54:56.742" v="2665" actId="20577"/>
        <pc:sldMkLst>
          <pc:docMk/>
          <pc:sldMk cId="3143548229" sldId="338"/>
        </pc:sldMkLst>
        <pc:spChg chg="mod">
          <ac:chgData name="Niklas Svidén" userId="12df9cec-6e8a-475c-a516-0e5970cfd82d" providerId="ADAL" clId="{B66AA38D-8DED-4E37-A372-07269DF1C247}" dt="2026-04-04T17:54:56.742" v="2665" actId="20577"/>
          <ac:spMkLst>
            <pc:docMk/>
            <pc:sldMk cId="3143548229" sldId="338"/>
            <ac:spMk id="3" creationId="{FD2F7E8D-4565-B011-A065-EFBE53BA02AF}"/>
          </ac:spMkLst>
        </pc:spChg>
      </pc:sldChg>
      <pc:sldChg chg="modSp mod">
        <pc:chgData name="Niklas Svidén" userId="12df9cec-6e8a-475c-a516-0e5970cfd82d" providerId="ADAL" clId="{B66AA38D-8DED-4E37-A372-07269DF1C247}" dt="2026-04-04T17:44:18.523" v="845" actId="20577"/>
        <pc:sldMkLst>
          <pc:docMk/>
          <pc:sldMk cId="3005408288" sldId="343"/>
        </pc:sldMkLst>
        <pc:spChg chg="mod">
          <ac:chgData name="Niklas Svidén" userId="12df9cec-6e8a-475c-a516-0e5970cfd82d" providerId="ADAL" clId="{B66AA38D-8DED-4E37-A372-07269DF1C247}" dt="2026-04-04T17:44:18.523" v="845" actId="20577"/>
          <ac:spMkLst>
            <pc:docMk/>
            <pc:sldMk cId="3005408288" sldId="343"/>
            <ac:spMk id="3" creationId="{66A545A6-CB1E-BDD2-96CA-AAD7BBF7C4D0}"/>
          </ac:spMkLst>
        </pc:spChg>
      </pc:sldChg>
      <pc:sldChg chg="modSp add mod">
        <pc:chgData name="Niklas Svidén" userId="12df9cec-6e8a-475c-a516-0e5970cfd82d" providerId="ADAL" clId="{B66AA38D-8DED-4E37-A372-07269DF1C247}" dt="2026-04-04T17:46:37.205" v="1165" actId="20577"/>
        <pc:sldMkLst>
          <pc:docMk/>
          <pc:sldMk cId="632710656" sldId="344"/>
        </pc:sldMkLst>
        <pc:spChg chg="mod">
          <ac:chgData name="Niklas Svidén" userId="12df9cec-6e8a-475c-a516-0e5970cfd82d" providerId="ADAL" clId="{B66AA38D-8DED-4E37-A372-07269DF1C247}" dt="2026-04-04T17:44:49.431" v="877" actId="20577"/>
          <ac:spMkLst>
            <pc:docMk/>
            <pc:sldMk cId="632710656" sldId="344"/>
            <ac:spMk id="2" creationId="{E1F6C296-1DA5-6891-6F0F-C9C192D262E2}"/>
          </ac:spMkLst>
        </pc:spChg>
        <pc:spChg chg="mod">
          <ac:chgData name="Niklas Svidén" userId="12df9cec-6e8a-475c-a516-0e5970cfd82d" providerId="ADAL" clId="{B66AA38D-8DED-4E37-A372-07269DF1C247}" dt="2026-04-04T17:46:37.205" v="1165" actId="20577"/>
          <ac:spMkLst>
            <pc:docMk/>
            <pc:sldMk cId="632710656" sldId="344"/>
            <ac:spMk id="3" creationId="{F7D2582D-C68C-4859-300B-E5A69F8F7E06}"/>
          </ac:spMkLst>
        </pc:spChg>
      </pc:sldChg>
      <pc:sldChg chg="new del">
        <pc:chgData name="Niklas Svidén" userId="12df9cec-6e8a-475c-a516-0e5970cfd82d" providerId="ADAL" clId="{B66AA38D-8DED-4E37-A372-07269DF1C247}" dt="2026-04-04T17:44:35.138" v="847" actId="47"/>
        <pc:sldMkLst>
          <pc:docMk/>
          <pc:sldMk cId="1912239921" sldId="344"/>
        </pc:sldMkLst>
      </pc:sldChg>
      <pc:sldChg chg="modSp add mod">
        <pc:chgData name="Niklas Svidén" userId="12df9cec-6e8a-475c-a516-0e5970cfd82d" providerId="ADAL" clId="{B66AA38D-8DED-4E37-A372-07269DF1C247}" dt="2026-04-04T18:07:40.947" v="3456" actId="20577"/>
        <pc:sldMkLst>
          <pc:docMk/>
          <pc:sldMk cId="1074631963" sldId="345"/>
        </pc:sldMkLst>
        <pc:spChg chg="mod">
          <ac:chgData name="Niklas Svidén" userId="12df9cec-6e8a-475c-a516-0e5970cfd82d" providerId="ADAL" clId="{B66AA38D-8DED-4E37-A372-07269DF1C247}" dt="2026-04-04T18:07:18.303" v="3393" actId="20577"/>
          <ac:spMkLst>
            <pc:docMk/>
            <pc:sldMk cId="1074631963" sldId="345"/>
            <ac:spMk id="2" creationId="{40D50E7E-3489-873A-5925-90A190597101}"/>
          </ac:spMkLst>
        </pc:spChg>
        <pc:spChg chg="mod">
          <ac:chgData name="Niklas Svidén" userId="12df9cec-6e8a-475c-a516-0e5970cfd82d" providerId="ADAL" clId="{B66AA38D-8DED-4E37-A372-07269DF1C247}" dt="2026-04-04T18:07:40.947" v="3456" actId="20577"/>
          <ac:spMkLst>
            <pc:docMk/>
            <pc:sldMk cId="1074631963" sldId="345"/>
            <ac:spMk id="3" creationId="{8BF0EC5A-57C0-C12F-B624-6767F5031367}"/>
          </ac:spMkLst>
        </pc:spChg>
      </pc:sldChg>
      <pc:sldChg chg="new del">
        <pc:chgData name="Niklas Svidén" userId="12df9cec-6e8a-475c-a516-0e5970cfd82d" providerId="ADAL" clId="{B66AA38D-8DED-4E37-A372-07269DF1C247}" dt="2026-04-04T18:04:29.639" v="3039" actId="47"/>
        <pc:sldMkLst>
          <pc:docMk/>
          <pc:sldMk cId="1746657031" sldId="345"/>
        </pc:sldMkLst>
      </pc:sldChg>
      <pc:sldChg chg="modSp add del mod">
        <pc:chgData name="Niklas Svidén" userId="12df9cec-6e8a-475c-a516-0e5970cfd82d" providerId="ADAL" clId="{B66AA38D-8DED-4E37-A372-07269DF1C247}" dt="2026-04-04T18:05:16.647" v="3074" actId="47"/>
        <pc:sldMkLst>
          <pc:docMk/>
          <pc:sldMk cId="3027175942" sldId="345"/>
        </pc:sldMkLst>
        <pc:spChg chg="mod">
          <ac:chgData name="Niklas Svidén" userId="12df9cec-6e8a-475c-a516-0e5970cfd82d" providerId="ADAL" clId="{B66AA38D-8DED-4E37-A372-07269DF1C247}" dt="2026-04-04T18:04:47.473" v="3067" actId="20577"/>
          <ac:spMkLst>
            <pc:docMk/>
            <pc:sldMk cId="3027175942" sldId="345"/>
            <ac:spMk id="2" creationId="{7BF5B8E1-2569-A5EC-73B7-31DD0084698D}"/>
          </ac:spMkLst>
        </pc:spChg>
        <pc:spChg chg="mod">
          <ac:chgData name="Niklas Svidén" userId="12df9cec-6e8a-475c-a516-0e5970cfd82d" providerId="ADAL" clId="{B66AA38D-8DED-4E37-A372-07269DF1C247}" dt="2026-04-04T18:04:58.267" v="3073" actId="5793"/>
          <ac:spMkLst>
            <pc:docMk/>
            <pc:sldMk cId="3027175942" sldId="345"/>
            <ac:spMk id="3" creationId="{88B2E50B-0660-C84F-5C2F-15911981B9CD}"/>
          </ac:spMkLst>
        </pc:spChg>
      </pc:sldChg>
      <pc:sldChg chg="modSp add del mod">
        <pc:chgData name="Niklas Svidén" userId="12df9cec-6e8a-475c-a516-0e5970cfd82d" providerId="ADAL" clId="{B66AA38D-8DED-4E37-A372-07269DF1C247}" dt="2026-04-04T18:13:02.047" v="3850" actId="47"/>
        <pc:sldMkLst>
          <pc:docMk/>
          <pc:sldMk cId="1876576683" sldId="346"/>
        </pc:sldMkLst>
        <pc:spChg chg="mod">
          <ac:chgData name="Niklas Svidén" userId="12df9cec-6e8a-475c-a516-0e5970cfd82d" providerId="ADAL" clId="{B66AA38D-8DED-4E37-A372-07269DF1C247}" dt="2026-04-04T18:09:44.901" v="3677" actId="20577"/>
          <ac:spMkLst>
            <pc:docMk/>
            <pc:sldMk cId="1876576683" sldId="346"/>
            <ac:spMk id="2" creationId="{A4E0BFF1-F6D0-163E-AFC5-1BDE51F75ADC}"/>
          </ac:spMkLst>
        </pc:spChg>
        <pc:spChg chg="mod">
          <ac:chgData name="Niklas Svidén" userId="12df9cec-6e8a-475c-a516-0e5970cfd82d" providerId="ADAL" clId="{B66AA38D-8DED-4E37-A372-07269DF1C247}" dt="2026-04-04T18:09:54.783" v="3707" actId="20577"/>
          <ac:spMkLst>
            <pc:docMk/>
            <pc:sldMk cId="1876576683" sldId="346"/>
            <ac:spMk id="3" creationId="{F2E8BE97-3677-02A0-A5C6-1F21C7DF97F6}"/>
          </ac:spMkLst>
        </pc:spChg>
      </pc:sldChg>
      <pc:sldChg chg="modSp add mod">
        <pc:chgData name="Niklas Svidén" userId="12df9cec-6e8a-475c-a516-0e5970cfd82d" providerId="ADAL" clId="{B66AA38D-8DED-4E37-A372-07269DF1C247}" dt="2026-04-04T18:10:34.237" v="3710" actId="20577"/>
        <pc:sldMkLst>
          <pc:docMk/>
          <pc:sldMk cId="4193074420" sldId="347"/>
        </pc:sldMkLst>
        <pc:spChg chg="mod">
          <ac:chgData name="Niklas Svidén" userId="12df9cec-6e8a-475c-a516-0e5970cfd82d" providerId="ADAL" clId="{B66AA38D-8DED-4E37-A372-07269DF1C247}" dt="2026-04-04T18:10:34.237" v="3710" actId="20577"/>
          <ac:spMkLst>
            <pc:docMk/>
            <pc:sldMk cId="4193074420" sldId="347"/>
            <ac:spMk id="2" creationId="{6CBCD9A4-C1DC-F7C5-F13E-263608207E8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E36B633-CEAC-0566-AFE0-89A83B1E73A0}"/>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8032AAED-31F6-D4D6-FADD-3262CD8F92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DB04F9B4-91BE-9758-CEB4-A2AD83A208D9}"/>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F9842F4A-9140-3024-2957-51F5EC42B6EC}"/>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9C7AB0A-5959-63EE-5C6B-774346A582BA}"/>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300972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CC94246-9D01-223C-BBBE-88C1C55E5156}"/>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832777D6-56DA-8439-8098-D5FF97076B28}"/>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E456BEB4-C143-754A-F279-C55779C8D0A9}"/>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3D2FA926-C64C-36A2-FF28-2245C66B1BC9}"/>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3AD7BB2-C9E1-C830-3A85-1034A563AB67}"/>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166574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CDCF829-2954-995E-70FE-37179B20D535}"/>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52BC943E-EE43-5D07-C968-67D5B2657C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E22EDCAD-CA8C-D013-18D1-57AC2C7FBC1A}"/>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A100F8D6-5C4A-B9A1-BF96-4C41E742138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03D0DC0C-0A98-36D3-24CF-CFE06729AB59}"/>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951966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291E985-1EB4-3349-56F5-2B2A2DF66993}"/>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357E2F00-C68A-DEB6-4874-98D871542183}"/>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EFE05919-2493-EAF7-BF4F-6EAE0C4B661E}"/>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3C20FB57-7294-3909-0477-BD7BB358D77D}"/>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6" name="Platshållare för sidfot 5">
            <a:extLst>
              <a:ext uri="{FF2B5EF4-FFF2-40B4-BE49-F238E27FC236}">
                <a16:creationId xmlns:a16="http://schemas.microsoft.com/office/drawing/2014/main" id="{85902456-349B-FA71-0610-FD4B6A758C81}"/>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2FC38A69-9B03-39D8-9E04-3EB28E7DF9D1}"/>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994548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BA7A54C-DD9B-1B52-42A0-7FBAC4DF63A6}"/>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52046C7C-309E-4DA5-AD5A-75E2AE8F4E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32B3C207-EE43-6CD2-DC82-E7CAD9C685A1}"/>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5CBAA696-4070-7DAE-74B7-8E4024236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62BB093B-0812-37A8-0A52-32FCEDA05D0F}"/>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50313574-D9E9-04FC-E5D5-6D1D3BD0FD47}"/>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8" name="Platshållare för sidfot 7">
            <a:extLst>
              <a:ext uri="{FF2B5EF4-FFF2-40B4-BE49-F238E27FC236}">
                <a16:creationId xmlns:a16="http://schemas.microsoft.com/office/drawing/2014/main" id="{D7A96975-776D-DF08-C61D-18915C1A6257}"/>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712578CC-E585-E571-2511-28125A3F0F7F}"/>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090292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270CCE6-CE6E-5A7B-5A5F-8A48A7A075FA}"/>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5143005A-C0B5-28E6-C2F2-7A1D18CE0C71}"/>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4" name="Platshållare för sidfot 3">
            <a:extLst>
              <a:ext uri="{FF2B5EF4-FFF2-40B4-BE49-F238E27FC236}">
                <a16:creationId xmlns:a16="http://schemas.microsoft.com/office/drawing/2014/main" id="{6063A108-7BE3-6E44-3552-7EE56724963E}"/>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E55A6B90-4B08-8529-ED25-6DA8D0803B20}"/>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13687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B3731BA9-F26D-A008-A667-AFC55CEFDE68}"/>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3" name="Platshållare för sidfot 2">
            <a:extLst>
              <a:ext uri="{FF2B5EF4-FFF2-40B4-BE49-F238E27FC236}">
                <a16:creationId xmlns:a16="http://schemas.microsoft.com/office/drawing/2014/main" id="{23ABD25E-85A0-6D80-54E8-41566BBD6A13}"/>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D89B4340-E973-19C7-6C05-33522F1AE52D}"/>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3947858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11060A1-D9F2-4F2F-07EE-30FDFBC65BEE}"/>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92742A0F-5082-8362-5000-B81F566627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E07470F4-8001-8A2E-7F3E-E915AD8495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83827658-534A-DD14-A87E-4EE986640FBC}"/>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6" name="Platshållare för sidfot 5">
            <a:extLst>
              <a:ext uri="{FF2B5EF4-FFF2-40B4-BE49-F238E27FC236}">
                <a16:creationId xmlns:a16="http://schemas.microsoft.com/office/drawing/2014/main" id="{B8FEAB12-CC0F-9742-6DFC-134FBE1C21B7}"/>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D1A7F46D-72E8-9E12-4D75-71558579AED6}"/>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197531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DE87AA0-056A-0522-0C04-C5E91D00C2C6}"/>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30CFF692-C840-234E-00E4-03CCB86C02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82ABBDF0-27C6-F3B5-225F-DF84464CF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560683AB-08CE-CC1F-DE7A-E22C168C275F}"/>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6" name="Platshållare för sidfot 5">
            <a:extLst>
              <a:ext uri="{FF2B5EF4-FFF2-40B4-BE49-F238E27FC236}">
                <a16:creationId xmlns:a16="http://schemas.microsoft.com/office/drawing/2014/main" id="{448623FE-A42F-4782-13FF-58804B747EE8}"/>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16283A9F-CCA3-E7A2-434D-93667B521382}"/>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467209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4702B91-0019-D2DA-70BD-FE42B34EFCB5}"/>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AB35A5D6-04D5-EBA5-A5EE-09ACD80BF534}"/>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15E6653-3340-FCD8-C331-A782B94AF45D}"/>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70353241-30EB-0C57-6D57-A7D573C9A485}"/>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6A9CA69-30C1-D76E-AEF1-5D806F7BC82A}"/>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3300211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6C76F77C-8770-C022-C54F-F0C03DD65D60}"/>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4C199AFC-F1A4-0453-E2F2-3C2CE4C42E69}"/>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97A8FD6-51E9-635F-2ECD-784A6B2F4F72}"/>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07B91BDF-3681-7D39-03D9-904E618CAECD}"/>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4F73278A-4768-E253-F8E3-D4299BE68AA3}"/>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2777607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E36B633-CEAC-0566-AFE0-89A83B1E73A0}"/>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8032AAED-31F6-D4D6-FADD-3262CD8F92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DB04F9B4-91BE-9758-CEB4-A2AD83A208D9}"/>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F9842F4A-9140-3024-2957-51F5EC42B6EC}"/>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9C7AB0A-5959-63EE-5C6B-774346A582BA}"/>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3009728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CC94246-9D01-223C-BBBE-88C1C55E5156}"/>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832777D6-56DA-8439-8098-D5FF97076B28}"/>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E456BEB4-C143-754A-F279-C55779C8D0A9}"/>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3D2FA926-C64C-36A2-FF28-2245C66B1BC9}"/>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3AD7BB2-C9E1-C830-3A85-1034A563AB67}"/>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166574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CDCF829-2954-995E-70FE-37179B20D535}"/>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52BC943E-EE43-5D07-C968-67D5B2657C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E22EDCAD-CA8C-D013-18D1-57AC2C7FBC1A}"/>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A100F8D6-5C4A-B9A1-BF96-4C41E742138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03D0DC0C-0A98-36D3-24CF-CFE06729AB59}"/>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951966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291E985-1EB4-3349-56F5-2B2A2DF66993}"/>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357E2F00-C68A-DEB6-4874-98D871542183}"/>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EFE05919-2493-EAF7-BF4F-6EAE0C4B661E}"/>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3C20FB57-7294-3909-0477-BD7BB358D77D}"/>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6" name="Platshållare för sidfot 5">
            <a:extLst>
              <a:ext uri="{FF2B5EF4-FFF2-40B4-BE49-F238E27FC236}">
                <a16:creationId xmlns:a16="http://schemas.microsoft.com/office/drawing/2014/main" id="{85902456-349B-FA71-0610-FD4B6A758C81}"/>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2FC38A69-9B03-39D8-9E04-3EB28E7DF9D1}"/>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99454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BA7A54C-DD9B-1B52-42A0-7FBAC4DF63A6}"/>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52046C7C-309E-4DA5-AD5A-75E2AE8F4E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32B3C207-EE43-6CD2-DC82-E7CAD9C685A1}"/>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5CBAA696-4070-7DAE-74B7-8E4024236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62BB093B-0812-37A8-0A52-32FCEDA05D0F}"/>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50313574-D9E9-04FC-E5D5-6D1D3BD0FD47}"/>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8" name="Platshållare för sidfot 7">
            <a:extLst>
              <a:ext uri="{FF2B5EF4-FFF2-40B4-BE49-F238E27FC236}">
                <a16:creationId xmlns:a16="http://schemas.microsoft.com/office/drawing/2014/main" id="{D7A96975-776D-DF08-C61D-18915C1A6257}"/>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712578CC-E585-E571-2511-28125A3F0F7F}"/>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090292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270CCE6-CE6E-5A7B-5A5F-8A48A7A075FA}"/>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5143005A-C0B5-28E6-C2F2-7A1D18CE0C71}"/>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4" name="Platshållare för sidfot 3">
            <a:extLst>
              <a:ext uri="{FF2B5EF4-FFF2-40B4-BE49-F238E27FC236}">
                <a16:creationId xmlns:a16="http://schemas.microsoft.com/office/drawing/2014/main" id="{6063A108-7BE3-6E44-3552-7EE56724963E}"/>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E55A6B90-4B08-8529-ED25-6DA8D0803B20}"/>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13687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B3731BA9-F26D-A008-A667-AFC55CEFDE68}"/>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3" name="Platshållare för sidfot 2">
            <a:extLst>
              <a:ext uri="{FF2B5EF4-FFF2-40B4-BE49-F238E27FC236}">
                <a16:creationId xmlns:a16="http://schemas.microsoft.com/office/drawing/2014/main" id="{23ABD25E-85A0-6D80-54E8-41566BBD6A13}"/>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D89B4340-E973-19C7-6C05-33522F1AE52D}"/>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3947858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11060A1-D9F2-4F2F-07EE-30FDFBC65BEE}"/>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92742A0F-5082-8362-5000-B81F566627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E07470F4-8001-8A2E-7F3E-E915AD8495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83827658-534A-DD14-A87E-4EE986640FBC}"/>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6" name="Platshållare för sidfot 5">
            <a:extLst>
              <a:ext uri="{FF2B5EF4-FFF2-40B4-BE49-F238E27FC236}">
                <a16:creationId xmlns:a16="http://schemas.microsoft.com/office/drawing/2014/main" id="{B8FEAB12-CC0F-9742-6DFC-134FBE1C21B7}"/>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D1A7F46D-72E8-9E12-4D75-71558579AED6}"/>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197531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DE87AA0-056A-0522-0C04-C5E91D00C2C6}"/>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30CFF692-C840-234E-00E4-03CCB86C02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82ABBDF0-27C6-F3B5-225F-DF84464CF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560683AB-08CE-CC1F-DE7A-E22C168C275F}"/>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6" name="Platshållare för sidfot 5">
            <a:extLst>
              <a:ext uri="{FF2B5EF4-FFF2-40B4-BE49-F238E27FC236}">
                <a16:creationId xmlns:a16="http://schemas.microsoft.com/office/drawing/2014/main" id="{448623FE-A42F-4782-13FF-58804B747EE8}"/>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16283A9F-CCA3-E7A2-434D-93667B521382}"/>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14672096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4702B91-0019-D2DA-70BD-FE42B34EFCB5}"/>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AB35A5D6-04D5-EBA5-A5EE-09ACD80BF534}"/>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15E6653-3340-FCD8-C331-A782B94AF45D}"/>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70353241-30EB-0C57-6D57-A7D573C9A485}"/>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6A9CA69-30C1-D76E-AEF1-5D806F7BC82A}"/>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3300211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6C76F77C-8770-C022-C54F-F0C03DD65D60}"/>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4C199AFC-F1A4-0453-E2F2-3C2CE4C42E69}"/>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97A8FD6-51E9-635F-2ECD-784A6B2F4F72}"/>
              </a:ext>
            </a:extLst>
          </p:cNvPr>
          <p:cNvSpPr>
            <a:spLocks noGrp="1"/>
          </p:cNvSpPr>
          <p:nvPr>
            <p:ph type="dt" sz="half" idx="10"/>
          </p:nvPr>
        </p:nvSpPr>
        <p:spPr/>
        <p:txBody>
          <a:body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07B91BDF-3681-7D39-03D9-904E618CAECD}"/>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4F73278A-4768-E253-F8E3-D4299BE68AA3}"/>
              </a:ext>
            </a:extLst>
          </p:cNvPr>
          <p:cNvSpPr>
            <a:spLocks noGrp="1"/>
          </p:cNvSpPr>
          <p:nvPr>
            <p:ph type="sldNum" sz="quarter" idx="12"/>
          </p:nvPr>
        </p:nvSpPr>
        <p:spPr/>
        <p:txBody>
          <a:bodyPr/>
          <a:lstStyle/>
          <a:p>
            <a:fld id="{4920E6B3-5F4B-4207-AD37-C1931D77B209}" type="slidenum">
              <a:rPr lang="sv-SE" smtClean="0"/>
              <a:t>‹#›</a:t>
            </a:fld>
            <a:endParaRPr lang="sv-SE"/>
          </a:p>
        </p:txBody>
      </p:sp>
    </p:spTree>
    <p:extLst>
      <p:ext uri="{BB962C8B-B14F-4D97-AF65-F5344CB8AC3E}">
        <p14:creationId xmlns:p14="http://schemas.microsoft.com/office/powerpoint/2010/main" val="27776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8D8E1029-2BB7-275C-F3F3-4B04746398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E55E443F-CCED-0A14-3132-0B3E181C7C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0ED6FBE-6993-FB10-5387-075F763653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3B7CBA06-68CE-7942-8FED-042CDC037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9D5208E4-B2A2-A397-A81E-D80F89E32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20E6B3-5F4B-4207-AD37-C1931D77B209}" type="slidenum">
              <a:rPr lang="sv-SE" smtClean="0"/>
              <a:t>‹#›</a:t>
            </a:fld>
            <a:endParaRPr lang="sv-SE"/>
          </a:p>
        </p:txBody>
      </p:sp>
    </p:spTree>
    <p:extLst>
      <p:ext uri="{BB962C8B-B14F-4D97-AF65-F5344CB8AC3E}">
        <p14:creationId xmlns:p14="http://schemas.microsoft.com/office/powerpoint/2010/main" val="3883242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8D8E1029-2BB7-275C-F3F3-4B04746398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E55E443F-CCED-0A14-3132-0B3E181C7C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0ED6FBE-6993-FB10-5387-075F763653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0F7C98-4D6F-434A-BCFF-5A4A5787D773}" type="datetimeFigureOut">
              <a:rPr lang="sv-SE" smtClean="0"/>
              <a:t>2026-04-04</a:t>
            </a:fld>
            <a:endParaRPr lang="sv-SE"/>
          </a:p>
        </p:txBody>
      </p:sp>
      <p:sp>
        <p:nvSpPr>
          <p:cNvPr id="5" name="Platshållare för sidfot 4">
            <a:extLst>
              <a:ext uri="{FF2B5EF4-FFF2-40B4-BE49-F238E27FC236}">
                <a16:creationId xmlns:a16="http://schemas.microsoft.com/office/drawing/2014/main" id="{3B7CBA06-68CE-7942-8FED-042CDC037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9D5208E4-B2A2-A397-A81E-D80F89E32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20E6B3-5F4B-4207-AD37-C1931D77B209}" type="slidenum">
              <a:rPr lang="sv-SE" smtClean="0"/>
              <a:t>‹#›</a:t>
            </a:fld>
            <a:endParaRPr lang="sv-SE"/>
          </a:p>
        </p:txBody>
      </p:sp>
    </p:spTree>
    <p:extLst>
      <p:ext uri="{BB962C8B-B14F-4D97-AF65-F5344CB8AC3E}">
        <p14:creationId xmlns:p14="http://schemas.microsoft.com/office/powerpoint/2010/main" val="38832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BD12B4B-43F8-7D4B-B786-0BEA7401ADB3}"/>
              </a:ext>
            </a:extLst>
          </p:cNvPr>
          <p:cNvSpPr>
            <a:spLocks noGrp="1"/>
          </p:cNvSpPr>
          <p:nvPr>
            <p:ph type="ctrTitle"/>
          </p:nvPr>
        </p:nvSpPr>
        <p:spPr/>
        <p:txBody>
          <a:bodyPr>
            <a:normAutofit/>
          </a:bodyPr>
          <a:lstStyle/>
          <a:p>
            <a:r>
              <a:rPr lang="sv-SE" sz="4400" b="1"/>
              <a:t>PMOPOLY</a:t>
            </a:r>
          </a:p>
        </p:txBody>
      </p:sp>
      <p:sp>
        <p:nvSpPr>
          <p:cNvPr id="3" name="Underrubrik 2">
            <a:extLst>
              <a:ext uri="{FF2B5EF4-FFF2-40B4-BE49-F238E27FC236}">
                <a16:creationId xmlns:a16="http://schemas.microsoft.com/office/drawing/2014/main" id="{2E27D189-A041-785B-36FF-F8D863E9C92C}"/>
              </a:ext>
            </a:extLst>
          </p:cNvPr>
          <p:cNvSpPr>
            <a:spLocks noGrp="1"/>
          </p:cNvSpPr>
          <p:nvPr>
            <p:ph type="subTitle" idx="1"/>
          </p:nvPr>
        </p:nvSpPr>
        <p:spPr/>
        <p:txBody>
          <a:bodyPr>
            <a:normAutofit/>
          </a:bodyPr>
          <a:lstStyle/>
          <a:p>
            <a:r>
              <a:rPr lang="sv-SE" sz="2000"/>
              <a:t>Fastighetsutveckling från idé till förvaltning</a:t>
            </a:r>
          </a:p>
        </p:txBody>
      </p:sp>
    </p:spTree>
    <p:extLst>
      <p:ext uri="{BB962C8B-B14F-4D97-AF65-F5344CB8AC3E}">
        <p14:creationId xmlns:p14="http://schemas.microsoft.com/office/powerpoint/2010/main" val="2388925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075C43D-38FA-0719-21DD-25AC09E7E713}"/>
              </a:ext>
            </a:extLst>
          </p:cNvPr>
          <p:cNvSpPr>
            <a:spLocks noGrp="1"/>
          </p:cNvSpPr>
          <p:nvPr>
            <p:ph type="title"/>
          </p:nvPr>
        </p:nvSpPr>
        <p:spPr/>
        <p:txBody>
          <a:bodyPr/>
          <a:lstStyle/>
          <a:p>
            <a:r>
              <a:rPr lang="sv-SE" sz="3200" b="1" dirty="0"/>
              <a:t>Välkommen</a:t>
            </a:r>
          </a:p>
        </p:txBody>
      </p:sp>
      <p:sp>
        <p:nvSpPr>
          <p:cNvPr id="3" name="Platshållare för innehåll 2">
            <a:extLst>
              <a:ext uri="{FF2B5EF4-FFF2-40B4-BE49-F238E27FC236}">
                <a16:creationId xmlns:a16="http://schemas.microsoft.com/office/drawing/2014/main" id="{F0B452CA-D57D-4E39-6323-4BCB4620DE4B}"/>
              </a:ext>
            </a:extLst>
          </p:cNvPr>
          <p:cNvSpPr>
            <a:spLocks noGrp="1"/>
          </p:cNvSpPr>
          <p:nvPr>
            <p:ph idx="1"/>
          </p:nvPr>
        </p:nvSpPr>
        <p:spPr/>
        <p:txBody>
          <a:bodyPr/>
          <a:lstStyle/>
          <a:p>
            <a:pPr marL="342900" indent="-342900">
              <a:buFont typeface="Arial"/>
              <a:buChar char="•"/>
            </a:pPr>
            <a:r>
              <a:rPr lang="sv-SE" sz="1800" dirty="0"/>
              <a:t>Idag spelar vi ett spel som speglar hela kedjan: från att projektutveckla, genom planering och byggnation, till att äga och förvalta fastigheter inom ert kvarter.</a:t>
            </a:r>
          </a:p>
          <a:p>
            <a:pPr marL="342900" indent="-342900">
              <a:buFont typeface="Arial"/>
              <a:buChar char="•"/>
            </a:pPr>
            <a:r>
              <a:rPr lang="sv-SE" sz="1800" dirty="0"/>
              <a:t>Ni driver era egna fastighetsutvecklingsbolag och tävlar mot varandra, dels i par – men också stadsdelarna mot varandra.</a:t>
            </a:r>
          </a:p>
          <a:p>
            <a:pPr marL="342900" indent="-342900">
              <a:buFont typeface="Arial"/>
              <a:buChar char="•"/>
            </a:pPr>
            <a:r>
              <a:rPr lang="sv-SE" sz="1800" dirty="0"/>
              <a:t>Som par bildar ni alltså ett kvarter</a:t>
            </a:r>
          </a:p>
          <a:p>
            <a:pPr marL="342900" indent="-342900">
              <a:buFont typeface="Arial"/>
              <a:buChar char="•"/>
            </a:pPr>
            <a:r>
              <a:rPr lang="sv-SE" sz="1800" dirty="0"/>
              <a:t>De andra tre paren vid ert bord bildar er stadsdel</a:t>
            </a:r>
          </a:p>
          <a:p>
            <a:pPr marL="0" indent="0">
              <a:buNone/>
            </a:pPr>
            <a:endParaRPr lang="sv-SE" sz="1800" dirty="0"/>
          </a:p>
          <a:p>
            <a:pPr marL="342900" indent="-342900">
              <a:buFont typeface="Arial"/>
              <a:buChar char="•"/>
            </a:pPr>
            <a:r>
              <a:rPr lang="sv-SE" sz="1800" dirty="0"/>
              <a:t>Ni har turen att ha ett moderbolag som tror på er och finansierar ert utvecklande och genomförande</a:t>
            </a:r>
          </a:p>
        </p:txBody>
      </p:sp>
    </p:spTree>
    <p:extLst>
      <p:ext uri="{BB962C8B-B14F-4D97-AF65-F5344CB8AC3E}">
        <p14:creationId xmlns:p14="http://schemas.microsoft.com/office/powerpoint/2010/main" val="3932646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D357900-11C8-8EFB-12AF-9017934D5294}"/>
              </a:ext>
            </a:extLst>
          </p:cNvPr>
          <p:cNvSpPr>
            <a:spLocks noGrp="1"/>
          </p:cNvSpPr>
          <p:nvPr>
            <p:ph type="title"/>
          </p:nvPr>
        </p:nvSpPr>
        <p:spPr/>
        <p:txBody>
          <a:bodyPr/>
          <a:lstStyle/>
          <a:p>
            <a:r>
              <a:rPr lang="sv-SE" sz="3200" b="1" dirty="0"/>
              <a:t>Dagens upplägg</a:t>
            </a:r>
          </a:p>
        </p:txBody>
      </p:sp>
      <p:sp>
        <p:nvSpPr>
          <p:cNvPr id="3" name="Platshållare för innehåll 2">
            <a:extLst>
              <a:ext uri="{FF2B5EF4-FFF2-40B4-BE49-F238E27FC236}">
                <a16:creationId xmlns:a16="http://schemas.microsoft.com/office/drawing/2014/main" id="{FD873EA4-11C7-C4D6-3A30-3E7CB05FD84F}"/>
              </a:ext>
            </a:extLst>
          </p:cNvPr>
          <p:cNvSpPr>
            <a:spLocks noGrp="1"/>
          </p:cNvSpPr>
          <p:nvPr>
            <p:ph idx="1"/>
          </p:nvPr>
        </p:nvSpPr>
        <p:spPr/>
        <p:txBody>
          <a:bodyPr/>
          <a:lstStyle/>
          <a:p>
            <a:pPr marL="342900" indent="-342900">
              <a:buFont typeface="Arial"/>
              <a:buChar char="•"/>
            </a:pPr>
            <a:r>
              <a:rPr lang="sv-SE" sz="1600" b="1" dirty="0"/>
              <a:t>Fas 1: Projektutveckling</a:t>
            </a:r>
            <a:r>
              <a:rPr lang="sv-SE" sz="1600" dirty="0"/>
              <a:t> (~1,5h)</a:t>
            </a:r>
          </a:p>
          <a:p>
            <a:pPr marL="342900" indent="-342900">
              <a:buFont typeface="Arial"/>
              <a:buChar char="•"/>
            </a:pPr>
            <a:r>
              <a:rPr lang="sv-SE" sz="1600" dirty="0"/>
              <a:t>Paus</a:t>
            </a:r>
          </a:p>
          <a:p>
            <a:pPr marL="342900" indent="-342900">
              <a:buFont typeface="Arial"/>
              <a:buChar char="•"/>
            </a:pPr>
            <a:r>
              <a:rPr lang="sv-SE" sz="1600" b="1" dirty="0"/>
              <a:t>Fas 2: Planering</a:t>
            </a:r>
            <a:r>
              <a:rPr lang="sv-SE" sz="1600" dirty="0"/>
              <a:t> (~1,5h)</a:t>
            </a:r>
          </a:p>
          <a:p>
            <a:pPr marL="342900" indent="-342900">
              <a:buFont typeface="Arial"/>
              <a:buChar char="•"/>
            </a:pPr>
            <a:r>
              <a:rPr lang="sv-SE" sz="1600" dirty="0"/>
              <a:t>Paus</a:t>
            </a:r>
          </a:p>
          <a:p>
            <a:pPr marL="342900" indent="-342900">
              <a:buFont typeface="Arial"/>
              <a:buChar char="•"/>
            </a:pPr>
            <a:r>
              <a:rPr lang="sv-SE" sz="1600" b="1" dirty="0"/>
              <a:t>Fas 3: Genomförande</a:t>
            </a:r>
            <a:r>
              <a:rPr lang="sv-SE" sz="1600" dirty="0"/>
              <a:t> (~1,5h)</a:t>
            </a:r>
          </a:p>
          <a:p>
            <a:pPr marL="342900" indent="-342900">
              <a:buFont typeface="Arial"/>
              <a:buChar char="•"/>
            </a:pPr>
            <a:r>
              <a:rPr lang="sv-SE" sz="1600" dirty="0"/>
              <a:t>Paus</a:t>
            </a:r>
          </a:p>
          <a:p>
            <a:pPr marL="342900" indent="-342900">
              <a:buFont typeface="Arial"/>
              <a:buChar char="•"/>
            </a:pPr>
            <a:r>
              <a:rPr lang="sv-SE" sz="1600" b="1" dirty="0"/>
              <a:t>Fas 4: Förvaltning</a:t>
            </a:r>
            <a:r>
              <a:rPr lang="sv-SE" sz="1600" dirty="0"/>
              <a:t> (~1,5h)</a:t>
            </a:r>
          </a:p>
          <a:p>
            <a:pPr marL="342900" indent="-342900">
              <a:buFont typeface="Arial"/>
              <a:buChar char="•"/>
            </a:pPr>
            <a:r>
              <a:rPr lang="sv-SE" sz="1600" b="1" dirty="0"/>
              <a:t>Middag med quiz och prisutdelning</a:t>
            </a:r>
          </a:p>
        </p:txBody>
      </p:sp>
    </p:spTree>
    <p:extLst>
      <p:ext uri="{BB962C8B-B14F-4D97-AF65-F5344CB8AC3E}">
        <p14:creationId xmlns:p14="http://schemas.microsoft.com/office/powerpoint/2010/main" val="909202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8C43F4D-4502-2F5B-3843-A88CB2973EE8}"/>
              </a:ext>
            </a:extLst>
          </p:cNvPr>
          <p:cNvSpPr>
            <a:spLocks noGrp="1"/>
          </p:cNvSpPr>
          <p:nvPr>
            <p:ph type="title"/>
          </p:nvPr>
        </p:nvSpPr>
        <p:spPr/>
        <p:txBody>
          <a:bodyPr/>
          <a:lstStyle/>
          <a:p>
            <a:r>
              <a:rPr lang="sv-SE" sz="3200" b="1" dirty="0"/>
              <a:t>Hur spelar man?</a:t>
            </a:r>
          </a:p>
        </p:txBody>
      </p:sp>
      <p:sp>
        <p:nvSpPr>
          <p:cNvPr id="3" name="Platshållare för innehåll 2">
            <a:extLst>
              <a:ext uri="{FF2B5EF4-FFF2-40B4-BE49-F238E27FC236}">
                <a16:creationId xmlns:a16="http://schemas.microsoft.com/office/drawing/2014/main" id="{FB9A9758-602E-012A-0320-1FD116DCC5B2}"/>
              </a:ext>
            </a:extLst>
          </p:cNvPr>
          <p:cNvSpPr>
            <a:spLocks noGrp="1"/>
          </p:cNvSpPr>
          <p:nvPr>
            <p:ph idx="1"/>
          </p:nvPr>
        </p:nvSpPr>
        <p:spPr/>
        <p:txBody>
          <a:bodyPr/>
          <a:lstStyle/>
          <a:p>
            <a:pPr marL="342900" indent="-342900">
              <a:buFont typeface="Arial"/>
              <a:buChar char="•"/>
            </a:pPr>
            <a:r>
              <a:rPr lang="sv-SE" sz="1800" dirty="0"/>
              <a:t>Med spelkomponenterna, men genom att logga det som sker på </a:t>
            </a:r>
            <a:r>
              <a:rPr lang="sv-SE" sz="1800" dirty="0" err="1"/>
              <a:t>Companion</a:t>
            </a:r>
            <a:endParaRPr lang="sv-SE" sz="1800" dirty="0"/>
          </a:p>
          <a:p>
            <a:pPr marL="342900" indent="-342900">
              <a:buFont typeface="Arial"/>
              <a:buChar char="•"/>
            </a:pPr>
            <a:endParaRPr lang="sv-SE" sz="1800" dirty="0"/>
          </a:p>
          <a:p>
            <a:pPr marL="342900" indent="-342900">
              <a:buFont typeface="Arial"/>
              <a:buChar char="•"/>
            </a:pPr>
            <a:endParaRPr lang="sv-SE" sz="1800" dirty="0"/>
          </a:p>
        </p:txBody>
      </p:sp>
    </p:spTree>
    <p:extLst>
      <p:ext uri="{BB962C8B-B14F-4D97-AF65-F5344CB8AC3E}">
        <p14:creationId xmlns:p14="http://schemas.microsoft.com/office/powerpoint/2010/main" val="2365334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7443C-65F7-FB77-7448-BCDC053EF4B2}"/>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268B8F3B-EC56-5324-D9EA-A14AE019266F}"/>
              </a:ext>
            </a:extLst>
          </p:cNvPr>
          <p:cNvSpPr>
            <a:spLocks noGrp="1"/>
          </p:cNvSpPr>
          <p:nvPr>
            <p:ph type="title"/>
          </p:nvPr>
        </p:nvSpPr>
        <p:spPr/>
        <p:txBody>
          <a:bodyPr/>
          <a:lstStyle/>
          <a:p>
            <a:r>
              <a:rPr lang="sv-SE" sz="3200" b="1" dirty="0"/>
              <a:t>Hur vinner man?</a:t>
            </a:r>
          </a:p>
        </p:txBody>
      </p:sp>
      <p:sp>
        <p:nvSpPr>
          <p:cNvPr id="3" name="Platshållare för innehåll 2">
            <a:extLst>
              <a:ext uri="{FF2B5EF4-FFF2-40B4-BE49-F238E27FC236}">
                <a16:creationId xmlns:a16="http://schemas.microsoft.com/office/drawing/2014/main" id="{94E3C890-7050-CDF2-9B0B-B07023B10D09}"/>
              </a:ext>
            </a:extLst>
          </p:cNvPr>
          <p:cNvSpPr>
            <a:spLocks noGrp="1"/>
          </p:cNvSpPr>
          <p:nvPr>
            <p:ph idx="1"/>
          </p:nvPr>
        </p:nvSpPr>
        <p:spPr/>
        <p:txBody>
          <a:bodyPr/>
          <a:lstStyle/>
          <a:p>
            <a:pPr marL="342900" indent="-342900">
              <a:buFont typeface="Arial"/>
              <a:buChar char="•"/>
            </a:pPr>
            <a:r>
              <a:rPr lang="sv-SE" sz="1800" dirty="0"/>
              <a:t>Ni poängsätts på ert fastighetsbestånd, er kassa och täckningsbidraget under er produktion</a:t>
            </a:r>
          </a:p>
          <a:p>
            <a:pPr marL="342900" indent="-342900">
              <a:buFont typeface="Arial"/>
              <a:buChar char="•"/>
            </a:pPr>
            <a:r>
              <a:rPr lang="sv-SE" sz="1800" dirty="0"/>
              <a:t>Det handlar om att balansera risk, kvalitet, hållbarhet och ekonomi — precis som i verkligheten</a:t>
            </a:r>
          </a:p>
          <a:p>
            <a:pPr marL="342900" indent="-342900">
              <a:buFont typeface="Arial"/>
              <a:buChar char="•"/>
            </a:pPr>
            <a:r>
              <a:rPr lang="sv-SE" sz="1800" dirty="0"/>
              <a:t>Den med högst totalpoäng efter ett års förvaltning vinner, men spelet är inte slut förrän spelledarna säger till. Håll er på alerten under middagen!</a:t>
            </a:r>
          </a:p>
        </p:txBody>
      </p:sp>
    </p:spTree>
    <p:extLst>
      <p:ext uri="{BB962C8B-B14F-4D97-AF65-F5344CB8AC3E}">
        <p14:creationId xmlns:p14="http://schemas.microsoft.com/office/powerpoint/2010/main" val="1878728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A4A41-E7C7-C552-4383-FED7FAB28E25}"/>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8755426B-BF2E-F89D-92E0-FA8C8EA87384}"/>
              </a:ext>
            </a:extLst>
          </p:cNvPr>
          <p:cNvSpPr>
            <a:spLocks noGrp="1"/>
          </p:cNvSpPr>
          <p:nvPr>
            <p:ph type="title"/>
          </p:nvPr>
        </p:nvSpPr>
        <p:spPr/>
        <p:txBody>
          <a:bodyPr/>
          <a:lstStyle/>
          <a:p>
            <a:r>
              <a:rPr lang="sv-SE" sz="3200" b="1" dirty="0"/>
              <a:t>Spelplan 1</a:t>
            </a:r>
          </a:p>
        </p:txBody>
      </p:sp>
    </p:spTree>
    <p:extLst>
      <p:ext uri="{BB962C8B-B14F-4D97-AF65-F5344CB8AC3E}">
        <p14:creationId xmlns:p14="http://schemas.microsoft.com/office/powerpoint/2010/main" val="92010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FD4DAE7-5F06-CA91-B4CC-9EFC50F2D13F}"/>
              </a:ext>
            </a:extLst>
          </p:cNvPr>
          <p:cNvSpPr>
            <a:spLocks noGrp="1"/>
          </p:cNvSpPr>
          <p:nvPr>
            <p:ph type="title"/>
          </p:nvPr>
        </p:nvSpPr>
        <p:spPr/>
        <p:txBody>
          <a:bodyPr/>
          <a:lstStyle/>
          <a:p>
            <a:r>
              <a:rPr lang="sv-SE" sz="3200" b="1" dirty="0"/>
              <a:t>Begrepp</a:t>
            </a:r>
          </a:p>
        </p:txBody>
      </p:sp>
      <p:sp>
        <p:nvSpPr>
          <p:cNvPr id="3" name="Platshållare för innehåll 2">
            <a:extLst>
              <a:ext uri="{FF2B5EF4-FFF2-40B4-BE49-F238E27FC236}">
                <a16:creationId xmlns:a16="http://schemas.microsoft.com/office/drawing/2014/main" id="{85D822C6-CC6E-B24A-C216-BA33ABBE40F6}"/>
              </a:ext>
            </a:extLst>
          </p:cNvPr>
          <p:cNvSpPr>
            <a:spLocks noGrp="1"/>
          </p:cNvSpPr>
          <p:nvPr>
            <p:ph idx="1"/>
          </p:nvPr>
        </p:nvSpPr>
        <p:spPr/>
        <p:txBody>
          <a:bodyPr>
            <a:normAutofit lnSpcReduction="10000"/>
          </a:bodyPr>
          <a:lstStyle/>
          <a:p>
            <a:pPr marL="342900" indent="-342900">
              <a:buFont typeface="Arial"/>
              <a:buChar char="•"/>
            </a:pPr>
            <a:r>
              <a:rPr lang="sv-SE" sz="1800" dirty="0"/>
              <a:t>BTA (Bruttotalarea) = alla våningsplan, det som genererar intäkt</a:t>
            </a:r>
          </a:p>
          <a:p>
            <a:pPr marL="342900" indent="-342900">
              <a:buFont typeface="Arial"/>
              <a:buChar char="•"/>
            </a:pPr>
            <a:r>
              <a:rPr lang="sv-SE" sz="1800" dirty="0"/>
              <a:t>BYA (Bebyggd yta) = fotavtryck på marken, parkering, källare</a:t>
            </a:r>
          </a:p>
          <a:p>
            <a:pPr marL="342900" indent="-342900">
              <a:buFont typeface="Arial"/>
              <a:buChar char="•"/>
            </a:pPr>
            <a:r>
              <a:rPr lang="sv-SE" sz="1800" dirty="0"/>
              <a:t>Summan av dessa ger klassificering A–D baserat på storlek — påverkar kostnader</a:t>
            </a:r>
          </a:p>
          <a:p>
            <a:pPr marL="0" indent="0">
              <a:buNone/>
            </a:pPr>
            <a:endParaRPr lang="sv-SE" sz="1800" dirty="0"/>
          </a:p>
          <a:p>
            <a:pPr marL="0" indent="0">
              <a:buNone/>
            </a:pPr>
            <a:r>
              <a:rPr lang="sv-SE" sz="1800" dirty="0"/>
              <a:t>Projektkrav</a:t>
            </a:r>
          </a:p>
          <a:p>
            <a:pPr marL="342900" indent="-342900">
              <a:buFont typeface="Arial"/>
              <a:buChar char="•"/>
            </a:pPr>
            <a:r>
              <a:rPr lang="sv-SE" sz="1800" b="1" dirty="0"/>
              <a:t>Q (Kvalitet)</a:t>
            </a:r>
            <a:r>
              <a:rPr lang="sv-SE" sz="1800" dirty="0"/>
              <a:t> — kravnivå på utförande och material</a:t>
            </a:r>
          </a:p>
          <a:p>
            <a:pPr marL="342900" indent="-342900">
              <a:buFont typeface="Arial"/>
              <a:buChar char="•"/>
            </a:pPr>
            <a:r>
              <a:rPr lang="sv-SE" sz="1800" b="1" dirty="0"/>
              <a:t>H (Hållbarhet)</a:t>
            </a:r>
            <a:r>
              <a:rPr lang="sv-SE" sz="1800" dirty="0"/>
              <a:t> — energi, miljö, certifieringar</a:t>
            </a:r>
          </a:p>
          <a:p>
            <a:pPr marL="342900" indent="-342900">
              <a:buFont typeface="Arial"/>
              <a:buChar char="•"/>
            </a:pPr>
            <a:r>
              <a:rPr lang="sv-SE" sz="1800" b="1" dirty="0"/>
              <a:t>T (Tid)</a:t>
            </a:r>
            <a:r>
              <a:rPr lang="sv-SE" sz="1800" dirty="0"/>
              <a:t> — byggtid i månader</a:t>
            </a:r>
          </a:p>
          <a:p>
            <a:pPr marL="342900" indent="-342900">
              <a:buFont typeface="Arial"/>
              <a:buChar char="•"/>
            </a:pPr>
            <a:r>
              <a:rPr lang="sv-SE" sz="1800" dirty="0"/>
              <a:t>Under projektutvecklingen ökas dessa efterhand, från projekt och från händelser på spelbrädet.</a:t>
            </a:r>
          </a:p>
          <a:p>
            <a:pPr marL="0" indent="0">
              <a:buNone/>
            </a:pPr>
            <a:endParaRPr lang="sv-SE" sz="1800" dirty="0"/>
          </a:p>
          <a:p>
            <a:pPr marL="0" indent="0">
              <a:buNone/>
            </a:pPr>
            <a:r>
              <a:rPr lang="sv-SE" sz="1800" dirty="0"/>
              <a:t>Riskbuffertar</a:t>
            </a:r>
          </a:p>
          <a:p>
            <a:r>
              <a:rPr lang="sv-SE" sz="1800" dirty="0"/>
              <a:t>Använd dem med förnuft. De ger er chansen att slå om ett oönskat tärningsslag. Gäller genom hela spelet.</a:t>
            </a:r>
          </a:p>
          <a:p>
            <a:pPr marL="342900" indent="-342900">
              <a:buFont typeface="Arial"/>
              <a:buChar char="•"/>
            </a:pPr>
            <a:endParaRPr lang="sv-SE" sz="1800" dirty="0"/>
          </a:p>
        </p:txBody>
      </p:sp>
    </p:spTree>
    <p:extLst>
      <p:ext uri="{BB962C8B-B14F-4D97-AF65-F5344CB8AC3E}">
        <p14:creationId xmlns:p14="http://schemas.microsoft.com/office/powerpoint/2010/main" val="1531097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2CD0C5-3AE9-0D6F-9AA0-7D72A9CA5BB6}"/>
              </a:ext>
            </a:extLst>
          </p:cNvPr>
          <p:cNvSpPr>
            <a:spLocks noGrp="1"/>
          </p:cNvSpPr>
          <p:nvPr>
            <p:ph type="title"/>
          </p:nvPr>
        </p:nvSpPr>
        <p:spPr/>
        <p:txBody>
          <a:bodyPr/>
          <a:lstStyle/>
          <a:p>
            <a:r>
              <a:rPr lang="sv-SE" sz="3200" b="1" dirty="0"/>
              <a:t>Ekonomibegrepp</a:t>
            </a:r>
          </a:p>
        </p:txBody>
      </p:sp>
      <p:sp>
        <p:nvSpPr>
          <p:cNvPr id="3" name="Platshållare för innehåll 2">
            <a:extLst>
              <a:ext uri="{FF2B5EF4-FFF2-40B4-BE49-F238E27FC236}">
                <a16:creationId xmlns:a16="http://schemas.microsoft.com/office/drawing/2014/main" id="{3E13CB79-D354-1545-420F-41AD3737786C}"/>
              </a:ext>
            </a:extLst>
          </p:cNvPr>
          <p:cNvSpPr>
            <a:spLocks noGrp="1"/>
          </p:cNvSpPr>
          <p:nvPr>
            <p:ph idx="1"/>
          </p:nvPr>
        </p:nvSpPr>
        <p:spPr/>
        <p:txBody>
          <a:bodyPr/>
          <a:lstStyle/>
          <a:p>
            <a:pPr marL="342900" indent="-342900">
              <a:buFont typeface="Arial"/>
              <a:buChar char="•"/>
            </a:pPr>
            <a:r>
              <a:rPr lang="sv-SE" sz="1800" b="1" dirty="0"/>
              <a:t>Marknadsvärde</a:t>
            </a:r>
          </a:p>
          <a:p>
            <a:pPr marL="342900" indent="-342900">
              <a:buFont typeface="Arial"/>
              <a:buChar char="•"/>
            </a:pPr>
            <a:r>
              <a:rPr lang="sv-SE" sz="1800" b="1" dirty="0"/>
              <a:t>Anskaffningsvärde</a:t>
            </a:r>
          </a:p>
          <a:p>
            <a:pPr marL="342900" indent="-342900">
              <a:buFont typeface="Arial"/>
              <a:buChar char="•"/>
            </a:pPr>
            <a:r>
              <a:rPr lang="sv-SE" sz="1800" b="1" dirty="0"/>
              <a:t>Täckningsbidrag</a:t>
            </a:r>
          </a:p>
          <a:p>
            <a:pPr marL="342900" indent="-342900">
              <a:buFont typeface="Arial"/>
              <a:buChar char="•"/>
            </a:pPr>
            <a:r>
              <a:rPr lang="sv-SE" sz="1800" b="1" dirty="0"/>
              <a:t>Täckningsgrad</a:t>
            </a:r>
            <a:endParaRPr lang="sv-SE" sz="1800" dirty="0"/>
          </a:p>
          <a:p>
            <a:pPr marL="342900" indent="-342900">
              <a:buFont typeface="Arial"/>
              <a:buChar char="•"/>
            </a:pPr>
            <a:r>
              <a:rPr lang="sv-SE" sz="1800" b="1" dirty="0"/>
              <a:t>Kassa</a:t>
            </a:r>
          </a:p>
          <a:p>
            <a:pPr marL="342900" indent="-342900">
              <a:buFont typeface="Arial"/>
              <a:buChar char="•"/>
            </a:pPr>
            <a:r>
              <a:rPr lang="sv-SE" sz="1800" b="1" dirty="0"/>
              <a:t>Driftnetto</a:t>
            </a:r>
          </a:p>
        </p:txBody>
      </p:sp>
    </p:spTree>
    <p:extLst>
      <p:ext uri="{BB962C8B-B14F-4D97-AF65-F5344CB8AC3E}">
        <p14:creationId xmlns:p14="http://schemas.microsoft.com/office/powerpoint/2010/main" val="298374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2E09-C205-DB8E-529E-BF759D801395}"/>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0B18AAE1-9773-2089-D324-01D24E481AF2}"/>
              </a:ext>
            </a:extLst>
          </p:cNvPr>
          <p:cNvSpPr>
            <a:spLocks noGrp="1"/>
          </p:cNvSpPr>
          <p:nvPr>
            <p:ph type="title"/>
          </p:nvPr>
        </p:nvSpPr>
        <p:spPr/>
        <p:txBody>
          <a:bodyPr/>
          <a:lstStyle/>
          <a:p>
            <a:r>
              <a:rPr lang="sv-SE" sz="3200" b="1" dirty="0"/>
              <a:t>Begrepp</a:t>
            </a:r>
          </a:p>
        </p:txBody>
      </p:sp>
      <p:sp>
        <p:nvSpPr>
          <p:cNvPr id="3" name="Platshållare för innehåll 2">
            <a:extLst>
              <a:ext uri="{FF2B5EF4-FFF2-40B4-BE49-F238E27FC236}">
                <a16:creationId xmlns:a16="http://schemas.microsoft.com/office/drawing/2014/main" id="{D6C0A4EE-7AD6-2FFA-C1C2-DBC43CFE9556}"/>
              </a:ext>
            </a:extLst>
          </p:cNvPr>
          <p:cNvSpPr>
            <a:spLocks noGrp="1"/>
          </p:cNvSpPr>
          <p:nvPr>
            <p:ph idx="1"/>
          </p:nvPr>
        </p:nvSpPr>
        <p:spPr/>
        <p:txBody>
          <a:bodyPr>
            <a:normAutofit/>
          </a:bodyPr>
          <a:lstStyle/>
          <a:p>
            <a:pPr marL="0" indent="0">
              <a:buNone/>
            </a:pPr>
            <a:r>
              <a:rPr lang="sv-SE" sz="1800" dirty="0"/>
              <a:t>Projektbanken</a:t>
            </a:r>
          </a:p>
          <a:p>
            <a:r>
              <a:rPr lang="sv-SE" sz="1800" dirty="0"/>
              <a:t>Alla projekt som ”varit i spel” på något sätt hamnar i projektbanken. Ur denna kan ni också välja att ta projekt (av den typ ni har rätt att ta).</a:t>
            </a:r>
          </a:p>
        </p:txBody>
      </p:sp>
    </p:spTree>
    <p:extLst>
      <p:ext uri="{BB962C8B-B14F-4D97-AF65-F5344CB8AC3E}">
        <p14:creationId xmlns:p14="http://schemas.microsoft.com/office/powerpoint/2010/main" val="2500606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4CB4A-BFAB-6293-6AA7-E001593FD6C5}"/>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6B41DD82-5551-2552-51F0-BE3DBADADA7A}"/>
              </a:ext>
            </a:extLst>
          </p:cNvPr>
          <p:cNvSpPr>
            <a:spLocks noGrp="1"/>
          </p:cNvSpPr>
          <p:nvPr>
            <p:ph type="title"/>
          </p:nvPr>
        </p:nvSpPr>
        <p:spPr/>
        <p:txBody>
          <a:bodyPr/>
          <a:lstStyle/>
          <a:p>
            <a:r>
              <a:rPr lang="sv-SE" sz="3200" b="1" dirty="0"/>
              <a:t>Ekonomi</a:t>
            </a:r>
          </a:p>
        </p:txBody>
      </p:sp>
      <p:sp>
        <p:nvSpPr>
          <p:cNvPr id="3" name="Platshållare för innehåll 2">
            <a:extLst>
              <a:ext uri="{FF2B5EF4-FFF2-40B4-BE49-F238E27FC236}">
                <a16:creationId xmlns:a16="http://schemas.microsoft.com/office/drawing/2014/main" id="{FD2F7E8D-4565-B011-A065-EFBE53BA02AF}"/>
              </a:ext>
            </a:extLst>
          </p:cNvPr>
          <p:cNvSpPr>
            <a:spLocks noGrp="1"/>
          </p:cNvSpPr>
          <p:nvPr>
            <p:ph idx="1"/>
          </p:nvPr>
        </p:nvSpPr>
        <p:spPr/>
        <p:txBody>
          <a:bodyPr>
            <a:normAutofit/>
          </a:bodyPr>
          <a:lstStyle/>
          <a:p>
            <a:pPr marL="342900" indent="-342900">
              <a:buFont typeface="Arial"/>
              <a:buChar char="•"/>
            </a:pPr>
            <a:r>
              <a:rPr lang="sv-SE" sz="1800" dirty="0"/>
              <a:t>Ni har ingen kassa under projektutvecklingen. Alla era kostnader betalas av moderbolaget, och läggs som balanserade kostnader. Dessa aktiveras sedan när ni kan teckna ett byggnadskreditiv. Ni får låna det belopp som står som Anskaffningskostnad på projektkortet.</a:t>
            </a:r>
          </a:p>
          <a:p>
            <a:pPr marL="342900" indent="-342900">
              <a:buFont typeface="Arial"/>
              <a:buChar char="•"/>
            </a:pPr>
            <a:r>
              <a:rPr lang="sv-SE" sz="1800" dirty="0"/>
              <a:t>När ni sedan planerar och genomför projektet är det summan av anskaffningskostnaden som är det som ni har att röra er med. Får ni pengar över är detta ert täckningsbidrag (TG). Det är dels en del av slutresultatet, men det adderas till er kassa när vi går in i förvaltningsskedet.</a:t>
            </a:r>
          </a:p>
          <a:p>
            <a:pPr marL="342900" indent="-342900">
              <a:buFont typeface="Arial"/>
              <a:buChar char="•"/>
            </a:pPr>
            <a:r>
              <a:rPr lang="sv-SE" sz="1800" dirty="0"/>
              <a:t>Tar pengarna slut? Ni har tur. Moderbolaget lånar er pengar, 100 Mkr i taget. Men ni får bara 95 Mkr, resten är en ”räntekostnad”. Men det kommer med ett pris. Det gör att ni måste </a:t>
            </a:r>
            <a:r>
              <a:rPr lang="sv-SE" sz="1800" dirty="0" err="1"/>
              <a:t>tvångssälja</a:t>
            </a:r>
            <a:r>
              <a:rPr lang="sv-SE" sz="1800" dirty="0"/>
              <a:t> fastigheter under förvaltningsskedet för att återbetala lånen, så länge ni har mer än en fastighet. Om ni inte kan det, så får ni inte köpa/sälja fastigheter eller göra energiuppgraderingar. Så se till att inte behöva låna pengar.</a:t>
            </a:r>
          </a:p>
          <a:p>
            <a:pPr marL="342900" indent="-342900">
              <a:buFont typeface="Arial"/>
              <a:buChar char="•"/>
            </a:pPr>
            <a:r>
              <a:rPr lang="sv-SE" sz="1800" dirty="0"/>
              <a:t>Själva räknandet sköts av </a:t>
            </a:r>
            <a:r>
              <a:rPr lang="sv-SE" sz="1800" dirty="0" err="1"/>
              <a:t>Companion</a:t>
            </a:r>
            <a:r>
              <a:rPr lang="sv-SE" sz="1800" dirty="0"/>
              <a:t>, så se till att logga allt som sker där, så har ni rätt förutsättningar hela tiden.</a:t>
            </a:r>
          </a:p>
        </p:txBody>
      </p:sp>
    </p:spTree>
    <p:extLst>
      <p:ext uri="{BB962C8B-B14F-4D97-AF65-F5344CB8AC3E}">
        <p14:creationId xmlns:p14="http://schemas.microsoft.com/office/powerpoint/2010/main" val="3143548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E6A5EB1-3E39-09D7-3DD9-3332D840D116}"/>
              </a:ext>
            </a:extLst>
          </p:cNvPr>
          <p:cNvSpPr>
            <a:spLocks noGrp="1"/>
          </p:cNvSpPr>
          <p:nvPr>
            <p:ph type="title"/>
          </p:nvPr>
        </p:nvSpPr>
        <p:spPr/>
        <p:txBody>
          <a:bodyPr/>
          <a:lstStyle/>
          <a:p>
            <a:r>
              <a:rPr lang="sv-SE" sz="3200" b="1" dirty="0"/>
              <a:t>Kvalitet och Hållbarhet</a:t>
            </a:r>
          </a:p>
        </p:txBody>
      </p:sp>
      <p:sp>
        <p:nvSpPr>
          <p:cNvPr id="3" name="Platshållare för innehåll 2">
            <a:extLst>
              <a:ext uri="{FF2B5EF4-FFF2-40B4-BE49-F238E27FC236}">
                <a16:creationId xmlns:a16="http://schemas.microsoft.com/office/drawing/2014/main" id="{FB64FF74-7F78-13FE-3105-512E09365A8E}"/>
              </a:ext>
            </a:extLst>
          </p:cNvPr>
          <p:cNvSpPr>
            <a:spLocks noGrp="1"/>
          </p:cNvSpPr>
          <p:nvPr>
            <p:ph idx="1"/>
          </p:nvPr>
        </p:nvSpPr>
        <p:spPr/>
        <p:txBody>
          <a:bodyPr/>
          <a:lstStyle/>
          <a:p>
            <a:pPr marL="342900" indent="-342900">
              <a:buFont typeface="Arial"/>
              <a:buChar char="•"/>
            </a:pPr>
            <a:r>
              <a:rPr lang="sv-SE" sz="1800" dirty="0"/>
              <a:t>Justera dessa under spelets gång, så fort en förändring sker</a:t>
            </a:r>
          </a:p>
          <a:p>
            <a:pPr marL="342900" indent="-342900">
              <a:buFont typeface="Arial"/>
              <a:buChar char="•"/>
            </a:pPr>
            <a:r>
              <a:rPr lang="sv-SE" sz="1800" dirty="0"/>
              <a:t>Nu under projektutvecklingen ökas kraven beroende på projektval och händelser</a:t>
            </a:r>
          </a:p>
          <a:p>
            <a:pPr marL="342900" indent="-342900">
              <a:buFont typeface="Arial"/>
              <a:buChar char="•"/>
            </a:pPr>
            <a:r>
              <a:rPr lang="sv-SE" sz="1800" dirty="0"/>
              <a:t>Under genomförandet ska ni sedan försöka nå kraven</a:t>
            </a:r>
          </a:p>
          <a:p>
            <a:pPr marL="342900" indent="-342900">
              <a:buFont typeface="Arial"/>
              <a:buChar char="•"/>
            </a:pPr>
            <a:endParaRPr lang="sv-SE" sz="1800" dirty="0"/>
          </a:p>
          <a:p>
            <a:pPr marL="342900" indent="-342900">
              <a:buFont typeface="Arial"/>
              <a:buChar char="•"/>
            </a:pPr>
            <a:r>
              <a:rPr lang="sv-SE" sz="1800" dirty="0"/>
              <a:t>Startvärden</a:t>
            </a:r>
          </a:p>
          <a:p>
            <a:pPr marL="800100" lvl="1" indent="-342900">
              <a:buFont typeface="Arial"/>
              <a:buChar char="•"/>
            </a:pPr>
            <a:r>
              <a:rPr lang="sv-SE" sz="1400" dirty="0"/>
              <a:t>Q: 6</a:t>
            </a:r>
          </a:p>
          <a:p>
            <a:pPr marL="800100" lvl="1" indent="-342900">
              <a:buFont typeface="Arial"/>
              <a:buChar char="•"/>
            </a:pPr>
            <a:r>
              <a:rPr lang="sv-SE" sz="1400" dirty="0"/>
              <a:t>H: 6</a:t>
            </a:r>
          </a:p>
          <a:p>
            <a:pPr marL="800100" lvl="1" indent="-342900">
              <a:buFont typeface="Arial"/>
              <a:buChar char="•"/>
            </a:pPr>
            <a:r>
              <a:rPr lang="sv-SE" sz="1400" dirty="0"/>
              <a:t>T: 12</a:t>
            </a:r>
          </a:p>
        </p:txBody>
      </p:sp>
    </p:spTree>
    <p:extLst>
      <p:ext uri="{BB962C8B-B14F-4D97-AF65-F5344CB8AC3E}">
        <p14:creationId xmlns:p14="http://schemas.microsoft.com/office/powerpoint/2010/main" val="1011662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D5960-D967-F21D-65E6-E89196ED6247}"/>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24DC4475-E054-03D1-2ADA-6EEBEBF8A1BB}"/>
              </a:ext>
            </a:extLst>
          </p:cNvPr>
          <p:cNvSpPr>
            <a:spLocks noGrp="1"/>
          </p:cNvSpPr>
          <p:nvPr>
            <p:ph type="title"/>
          </p:nvPr>
        </p:nvSpPr>
        <p:spPr/>
        <p:txBody>
          <a:bodyPr/>
          <a:lstStyle/>
          <a:p>
            <a:r>
              <a:rPr lang="sv-SE" sz="3200" b="1" dirty="0" err="1"/>
              <a:t>Let</a:t>
            </a:r>
            <a:r>
              <a:rPr lang="sv-SE" sz="3200" b="1" dirty="0"/>
              <a:t> the game </a:t>
            </a:r>
            <a:r>
              <a:rPr lang="sv-SE" sz="3200" b="1" dirty="0" err="1"/>
              <a:t>begin</a:t>
            </a:r>
            <a:r>
              <a:rPr lang="sv-SE" sz="3200" b="1" dirty="0"/>
              <a:t>!</a:t>
            </a:r>
          </a:p>
        </p:txBody>
      </p:sp>
      <p:sp>
        <p:nvSpPr>
          <p:cNvPr id="3" name="Platshållare för innehåll 2">
            <a:extLst>
              <a:ext uri="{FF2B5EF4-FFF2-40B4-BE49-F238E27FC236}">
                <a16:creationId xmlns:a16="http://schemas.microsoft.com/office/drawing/2014/main" id="{DAD788D4-33E4-0BD7-10F3-084DECB2469D}"/>
              </a:ext>
            </a:extLst>
          </p:cNvPr>
          <p:cNvSpPr>
            <a:spLocks noGrp="1"/>
          </p:cNvSpPr>
          <p:nvPr>
            <p:ph idx="1"/>
          </p:nvPr>
        </p:nvSpPr>
        <p:spPr/>
        <p:txBody>
          <a:bodyPr/>
          <a:lstStyle/>
          <a:p>
            <a:pPr marL="342900" indent="-342900">
              <a:buFont typeface="Arial"/>
              <a:buChar char="•"/>
            </a:pPr>
            <a:r>
              <a:rPr lang="sv-SE" sz="1800" dirty="0"/>
              <a:t>Ni har fått en tomt, och på den ska ni försöka skapa ett kvarter som ger största möjliga avkastning och fastighetsvärde.</a:t>
            </a:r>
          </a:p>
          <a:p>
            <a:pPr marL="342900" indent="-342900">
              <a:buFont typeface="Arial"/>
              <a:buChar char="•"/>
            </a:pPr>
            <a:r>
              <a:rPr lang="sv-SE" sz="1800" dirty="0"/>
              <a:t>Vad är möjligt att bygga? </a:t>
            </a:r>
          </a:p>
          <a:p>
            <a:pPr marL="800100" lvl="1" indent="-342900">
              <a:buFont typeface="Arial"/>
              <a:buChar char="•"/>
            </a:pPr>
            <a:r>
              <a:rPr lang="sv-SE" sz="1400" dirty="0"/>
              <a:t>Bostäder – både HR och BRF</a:t>
            </a:r>
          </a:p>
          <a:p>
            <a:pPr marL="800100" lvl="1" indent="-342900">
              <a:buFont typeface="Arial"/>
              <a:buChar char="•"/>
            </a:pPr>
            <a:r>
              <a:rPr lang="sv-SE" sz="1400" dirty="0"/>
              <a:t>Kontor</a:t>
            </a:r>
          </a:p>
          <a:p>
            <a:pPr marL="800100" lvl="1" indent="-342900">
              <a:buFont typeface="Arial"/>
              <a:buChar char="•"/>
            </a:pPr>
            <a:r>
              <a:rPr lang="sv-SE" sz="1400" dirty="0"/>
              <a:t>Förskola</a:t>
            </a:r>
          </a:p>
          <a:p>
            <a:pPr marL="800100" lvl="1" indent="-342900">
              <a:buFont typeface="Arial"/>
              <a:buChar char="•"/>
            </a:pPr>
            <a:r>
              <a:rPr lang="sv-SE" sz="1400" dirty="0"/>
              <a:t>Lokaler</a:t>
            </a:r>
          </a:p>
          <a:p>
            <a:pPr marL="342900" indent="-342900">
              <a:buFont typeface="Arial"/>
              <a:buChar char="•"/>
            </a:pPr>
            <a:r>
              <a:rPr lang="sv-SE" sz="1800" dirty="0"/>
              <a:t>Byggregler</a:t>
            </a:r>
          </a:p>
          <a:p>
            <a:pPr marL="800100" lvl="1" indent="-342900">
              <a:buFont typeface="Arial"/>
              <a:buChar char="•"/>
            </a:pPr>
            <a:r>
              <a:rPr lang="sv-SE" sz="1400" dirty="0"/>
              <a:t>Inga projektdelar får vara utanför tomten, inklusive tomtexpansioner. Det är tillåtet att bygga i två lager</a:t>
            </a:r>
          </a:p>
          <a:p>
            <a:pPr marL="800100" lvl="1" indent="-342900">
              <a:buFont typeface="Arial"/>
              <a:buChar char="•"/>
            </a:pPr>
            <a:r>
              <a:rPr lang="sv-SE" sz="1400" dirty="0"/>
              <a:t>Kontor, Lokaler och Förskolor enbart i markplanet</a:t>
            </a:r>
          </a:p>
          <a:p>
            <a:pPr marL="800100" lvl="1" indent="-342900">
              <a:buFont typeface="Arial"/>
              <a:buChar char="•"/>
            </a:pPr>
            <a:r>
              <a:rPr lang="sv-SE" sz="1400" dirty="0"/>
              <a:t>Bostäder kan byggas i bägge lagren, men samtliga rutor i övre lagret måste ha ett projekt under. Dvs inga ”hål”</a:t>
            </a:r>
          </a:p>
          <a:p>
            <a:pPr marL="342900" indent="-342900">
              <a:buFont typeface="Arial"/>
              <a:buChar char="•"/>
            </a:pPr>
            <a:r>
              <a:rPr lang="sv-SE" sz="1800" dirty="0"/>
              <a:t>Godkända projekt</a:t>
            </a:r>
          </a:p>
          <a:p>
            <a:pPr marL="800100" lvl="1" indent="-342900">
              <a:buFont typeface="Arial"/>
              <a:buChar char="•"/>
            </a:pPr>
            <a:r>
              <a:rPr lang="sv-SE" sz="1400" dirty="0"/>
              <a:t>De som ni lyckas placera. Övriga kommer ni få betala utvecklingskostnaden för, men sedan återgår de till projektbanken.</a:t>
            </a:r>
          </a:p>
        </p:txBody>
      </p:sp>
    </p:spTree>
    <p:extLst>
      <p:ext uri="{BB962C8B-B14F-4D97-AF65-F5344CB8AC3E}">
        <p14:creationId xmlns:p14="http://schemas.microsoft.com/office/powerpoint/2010/main" val="388979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15E359B-414C-E9EA-3B3F-F6B026622829}"/>
              </a:ext>
            </a:extLst>
          </p:cNvPr>
          <p:cNvSpPr>
            <a:spLocks noGrp="1"/>
          </p:cNvSpPr>
          <p:nvPr>
            <p:ph type="title"/>
          </p:nvPr>
        </p:nvSpPr>
        <p:spPr/>
        <p:txBody>
          <a:bodyPr/>
          <a:lstStyle/>
          <a:p>
            <a:r>
              <a:rPr lang="sv-SE" sz="3200" b="1" dirty="0"/>
              <a:t>Välj en Projektchef (PC)</a:t>
            </a:r>
          </a:p>
        </p:txBody>
      </p:sp>
      <p:sp>
        <p:nvSpPr>
          <p:cNvPr id="3" name="Platshållare för innehåll 2">
            <a:extLst>
              <a:ext uri="{FF2B5EF4-FFF2-40B4-BE49-F238E27FC236}">
                <a16:creationId xmlns:a16="http://schemas.microsoft.com/office/drawing/2014/main" id="{D440EF13-8D02-D78A-2430-64C89A4B35C3}"/>
              </a:ext>
            </a:extLst>
          </p:cNvPr>
          <p:cNvSpPr>
            <a:spLocks noGrp="1"/>
          </p:cNvSpPr>
          <p:nvPr>
            <p:ph idx="1"/>
          </p:nvPr>
        </p:nvSpPr>
        <p:spPr/>
        <p:txBody>
          <a:bodyPr/>
          <a:lstStyle/>
          <a:p>
            <a:pPr marL="342900" indent="-342900">
              <a:buFont typeface="Arial"/>
              <a:buChar char="•"/>
            </a:pPr>
            <a:r>
              <a:rPr lang="sv-SE" sz="1800" dirty="0"/>
              <a:t>Leder projektet genom utvecklingsfasen</a:t>
            </a:r>
          </a:p>
          <a:p>
            <a:pPr marL="342900" indent="-342900">
              <a:buFont typeface="Arial"/>
              <a:buChar char="•"/>
            </a:pPr>
            <a:r>
              <a:rPr lang="sv-SE" sz="1800" dirty="0"/>
              <a:t>I verkligheten: ansvarig för budget, nämndkontakt, riskhantering</a:t>
            </a:r>
          </a:p>
          <a:p>
            <a:pPr marL="342900" indent="-342900">
              <a:buFont typeface="Arial"/>
              <a:buChar char="•"/>
            </a:pPr>
            <a:r>
              <a:rPr lang="sv-SE" sz="1800" dirty="0"/>
              <a:t>Erfarenhet och kontaktnät spelar stor roll</a:t>
            </a:r>
          </a:p>
        </p:txBody>
      </p:sp>
    </p:spTree>
    <p:extLst>
      <p:ext uri="{BB962C8B-B14F-4D97-AF65-F5344CB8AC3E}">
        <p14:creationId xmlns:p14="http://schemas.microsoft.com/office/powerpoint/2010/main" val="376001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8B09-6CB5-A79C-DAB2-70DFC18604A1}"/>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97AC99AD-216B-E2E6-51FD-936C95954C19}"/>
              </a:ext>
            </a:extLst>
          </p:cNvPr>
          <p:cNvSpPr>
            <a:spLocks noGrp="1"/>
          </p:cNvSpPr>
          <p:nvPr>
            <p:ph type="title"/>
          </p:nvPr>
        </p:nvSpPr>
        <p:spPr/>
        <p:txBody>
          <a:bodyPr/>
          <a:lstStyle/>
          <a:p>
            <a:r>
              <a:rPr lang="sv-SE" sz="3200" b="1" dirty="0"/>
              <a:t>Välj ert första projekt</a:t>
            </a:r>
          </a:p>
        </p:txBody>
      </p:sp>
      <p:sp>
        <p:nvSpPr>
          <p:cNvPr id="3" name="Platshållare för innehåll 2">
            <a:extLst>
              <a:ext uri="{FF2B5EF4-FFF2-40B4-BE49-F238E27FC236}">
                <a16:creationId xmlns:a16="http://schemas.microsoft.com/office/drawing/2014/main" id="{66A545A6-CB1E-BDD2-96CA-AAD7BBF7C4D0}"/>
              </a:ext>
            </a:extLst>
          </p:cNvPr>
          <p:cNvSpPr>
            <a:spLocks noGrp="1"/>
          </p:cNvSpPr>
          <p:nvPr>
            <p:ph idx="1"/>
          </p:nvPr>
        </p:nvSpPr>
        <p:spPr/>
        <p:txBody>
          <a:bodyPr/>
          <a:lstStyle/>
          <a:p>
            <a:pPr marL="342900" indent="-342900">
              <a:buFont typeface="Arial"/>
              <a:buChar char="•"/>
            </a:pPr>
            <a:r>
              <a:rPr lang="sv-SE" sz="1800" dirty="0"/>
              <a:t>BRF kommer att ge medel till kassan när vi går in i förvaltning. (Marknadsvärde minus anskaffningskostnad)</a:t>
            </a:r>
          </a:p>
          <a:p>
            <a:pPr marL="342900" indent="-342900">
              <a:buFont typeface="Arial"/>
              <a:buChar char="•"/>
            </a:pPr>
            <a:r>
              <a:rPr lang="sv-SE" sz="1800" dirty="0"/>
              <a:t>Övriga projekt kommer att bli fastigheter och dels ge driftnetto, men också bidra till slutresultatet.</a:t>
            </a:r>
          </a:p>
          <a:p>
            <a:pPr marL="342900" indent="-342900">
              <a:buFont typeface="Arial"/>
              <a:buChar char="•"/>
            </a:pPr>
            <a:r>
              <a:rPr lang="sv-SE" sz="1800" dirty="0"/>
              <a:t>Alla kvarter måste ha minst ett projekt under förvaltningsfasen</a:t>
            </a:r>
          </a:p>
          <a:p>
            <a:pPr marL="342900" indent="-342900">
              <a:buFont typeface="Arial"/>
              <a:buChar char="•"/>
            </a:pPr>
            <a:r>
              <a:rPr lang="sv-SE" sz="1800" dirty="0"/>
              <a:t>Strategi? Ta fler projekt än ni får rum med och ta kostnaden för de som inte går att bygga? Ta de första som dyker upp eller avvakta? Se på slutet vad som finns i projektbanken, men med tre gånger så hög utvecklingskostnad? Gå för enbart bostäder, eller bostäder+1 projekttyp för att få något mildrade händelser under senare skeden? Bestäm er för något ni tror kommer fungera.</a:t>
            </a:r>
          </a:p>
        </p:txBody>
      </p:sp>
    </p:spTree>
    <p:extLst>
      <p:ext uri="{BB962C8B-B14F-4D97-AF65-F5344CB8AC3E}">
        <p14:creationId xmlns:p14="http://schemas.microsoft.com/office/powerpoint/2010/main" val="3005408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10678-4D21-BCD2-BDC4-6212BA999CB8}"/>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E1F6C296-1DA5-6891-6F0F-C9C192D262E2}"/>
              </a:ext>
            </a:extLst>
          </p:cNvPr>
          <p:cNvSpPr>
            <a:spLocks noGrp="1"/>
          </p:cNvSpPr>
          <p:nvPr>
            <p:ph type="title"/>
          </p:nvPr>
        </p:nvSpPr>
        <p:spPr/>
        <p:txBody>
          <a:bodyPr/>
          <a:lstStyle/>
          <a:p>
            <a:r>
              <a:rPr lang="sv-SE" sz="3200" b="1" dirty="0"/>
              <a:t>Börja röra er runt spelplanen</a:t>
            </a:r>
          </a:p>
        </p:txBody>
      </p:sp>
      <p:sp>
        <p:nvSpPr>
          <p:cNvPr id="3" name="Platshållare för innehåll 2">
            <a:extLst>
              <a:ext uri="{FF2B5EF4-FFF2-40B4-BE49-F238E27FC236}">
                <a16:creationId xmlns:a16="http://schemas.microsoft.com/office/drawing/2014/main" id="{F7D2582D-C68C-4859-300B-E5A69F8F7E06}"/>
              </a:ext>
            </a:extLst>
          </p:cNvPr>
          <p:cNvSpPr>
            <a:spLocks noGrp="1"/>
          </p:cNvSpPr>
          <p:nvPr>
            <p:ph idx="1"/>
          </p:nvPr>
        </p:nvSpPr>
        <p:spPr/>
        <p:txBody>
          <a:bodyPr/>
          <a:lstStyle/>
          <a:p>
            <a:pPr marL="342900" indent="-342900">
              <a:buFont typeface="Arial"/>
              <a:buChar char="•"/>
            </a:pPr>
            <a:r>
              <a:rPr lang="sv-SE" sz="1800" dirty="0"/>
              <a:t>Hörnrutorna: specialfall</a:t>
            </a:r>
          </a:p>
          <a:p>
            <a:pPr marL="342900" indent="-342900">
              <a:buFont typeface="Arial"/>
              <a:buChar char="•"/>
            </a:pPr>
            <a:r>
              <a:rPr lang="sv-SE" sz="1800" dirty="0"/>
              <a:t>Politik- och händelsekort</a:t>
            </a:r>
          </a:p>
          <a:p>
            <a:pPr marL="342900" indent="-342900">
              <a:buFont typeface="Arial"/>
              <a:buChar char="•"/>
            </a:pPr>
            <a:r>
              <a:rPr lang="sv-SE" sz="1800" dirty="0"/>
              <a:t>Riskbuffertar</a:t>
            </a:r>
          </a:p>
          <a:p>
            <a:pPr marL="342900" indent="-342900">
              <a:buFont typeface="Arial"/>
              <a:buChar char="•"/>
            </a:pPr>
            <a:r>
              <a:rPr lang="sv-SE" sz="1800" dirty="0"/>
              <a:t>Välj projekt, eller lägg det i projektbanken</a:t>
            </a:r>
          </a:p>
          <a:p>
            <a:pPr marL="342900" indent="-342900">
              <a:buFont typeface="Arial"/>
              <a:buChar char="•"/>
            </a:pPr>
            <a:endParaRPr lang="sv-SE" sz="1800" dirty="0"/>
          </a:p>
          <a:p>
            <a:pPr marL="342900" indent="-342900">
              <a:buFont typeface="Arial"/>
              <a:buChar char="•"/>
            </a:pPr>
            <a:r>
              <a:rPr lang="sv-SE" sz="1800" dirty="0"/>
              <a:t>Ni slår en sexsidig tärning (D6). När första kvarteret passerar Stadsbyggnadskontoret för andra gången går vi till Nämndbeslut</a:t>
            </a:r>
          </a:p>
        </p:txBody>
      </p:sp>
    </p:spTree>
    <p:extLst>
      <p:ext uri="{BB962C8B-B14F-4D97-AF65-F5344CB8AC3E}">
        <p14:creationId xmlns:p14="http://schemas.microsoft.com/office/powerpoint/2010/main" val="632710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7EC35B8-248E-C727-B6B4-E65A4E715729}"/>
              </a:ext>
            </a:extLst>
          </p:cNvPr>
          <p:cNvSpPr>
            <a:spLocks noGrp="1"/>
          </p:cNvSpPr>
          <p:nvPr>
            <p:ph type="title"/>
          </p:nvPr>
        </p:nvSpPr>
        <p:spPr/>
        <p:txBody>
          <a:bodyPr/>
          <a:lstStyle/>
          <a:p>
            <a:r>
              <a:rPr lang="sv-SE" sz="3200" b="1" dirty="0"/>
              <a:t>Nämndprocessen, från verkligheten</a:t>
            </a:r>
          </a:p>
        </p:txBody>
      </p:sp>
      <p:sp>
        <p:nvSpPr>
          <p:cNvPr id="3" name="Platshållare för innehåll 2">
            <a:extLst>
              <a:ext uri="{FF2B5EF4-FFF2-40B4-BE49-F238E27FC236}">
                <a16:creationId xmlns:a16="http://schemas.microsoft.com/office/drawing/2014/main" id="{71D28DB7-5638-2CED-B742-7540C2898386}"/>
              </a:ext>
            </a:extLst>
          </p:cNvPr>
          <p:cNvSpPr>
            <a:spLocks noGrp="1"/>
          </p:cNvSpPr>
          <p:nvPr>
            <p:ph idx="1"/>
          </p:nvPr>
        </p:nvSpPr>
        <p:spPr/>
        <p:txBody>
          <a:bodyPr/>
          <a:lstStyle/>
          <a:p>
            <a:pPr marL="342900" indent="-342900">
              <a:buFont typeface="Arial"/>
              <a:buChar char="•"/>
            </a:pPr>
            <a:r>
              <a:rPr lang="sv-SE" sz="1800" dirty="0"/>
              <a:t>Här vore det kul att få en dragning av någon om hur det går till i verkligheten</a:t>
            </a:r>
          </a:p>
        </p:txBody>
      </p:sp>
    </p:spTree>
    <p:extLst>
      <p:ext uri="{BB962C8B-B14F-4D97-AF65-F5344CB8AC3E}">
        <p14:creationId xmlns:p14="http://schemas.microsoft.com/office/powerpoint/2010/main" val="438126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8A31-92AC-D91C-6AF2-3B97E42755C0}"/>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4496B469-18AE-5279-4BC0-587C3B6075E2}"/>
              </a:ext>
            </a:extLst>
          </p:cNvPr>
          <p:cNvSpPr>
            <a:spLocks noGrp="1"/>
          </p:cNvSpPr>
          <p:nvPr>
            <p:ph type="title"/>
          </p:nvPr>
        </p:nvSpPr>
        <p:spPr/>
        <p:txBody>
          <a:bodyPr/>
          <a:lstStyle/>
          <a:p>
            <a:r>
              <a:rPr lang="sv-SE" sz="3200" b="1" dirty="0"/>
              <a:t>Efter nämndprocessen</a:t>
            </a:r>
          </a:p>
        </p:txBody>
      </p:sp>
      <p:sp>
        <p:nvSpPr>
          <p:cNvPr id="3" name="Platshållare för innehåll 2">
            <a:extLst>
              <a:ext uri="{FF2B5EF4-FFF2-40B4-BE49-F238E27FC236}">
                <a16:creationId xmlns:a16="http://schemas.microsoft.com/office/drawing/2014/main" id="{E7E0CC74-461D-5CC4-B961-9D5E3D917C4B}"/>
              </a:ext>
            </a:extLst>
          </p:cNvPr>
          <p:cNvSpPr>
            <a:spLocks noGrp="1"/>
          </p:cNvSpPr>
          <p:nvPr>
            <p:ph idx="1"/>
          </p:nvPr>
        </p:nvSpPr>
        <p:spPr/>
        <p:txBody>
          <a:bodyPr/>
          <a:lstStyle/>
          <a:p>
            <a:pPr marL="342900" indent="-342900">
              <a:buFont typeface="Arial"/>
              <a:buChar char="•"/>
            </a:pPr>
            <a:r>
              <a:rPr lang="sv-SE" sz="1800" dirty="0"/>
              <a:t>Välj projekt ur projektbanken, men till tre gånger så hög utvecklingskostnad</a:t>
            </a:r>
          </a:p>
          <a:p>
            <a:pPr marL="342900" indent="-342900">
              <a:buFont typeface="Arial"/>
              <a:buChar char="•"/>
            </a:pPr>
            <a:endParaRPr lang="sv-SE" sz="1800" dirty="0"/>
          </a:p>
        </p:txBody>
      </p:sp>
    </p:spTree>
    <p:extLst>
      <p:ext uri="{BB962C8B-B14F-4D97-AF65-F5344CB8AC3E}">
        <p14:creationId xmlns:p14="http://schemas.microsoft.com/office/powerpoint/2010/main" val="3246320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157D4DC-6BF9-0583-612F-0AF536783EF0}"/>
              </a:ext>
            </a:extLst>
          </p:cNvPr>
          <p:cNvSpPr>
            <a:spLocks noGrp="1"/>
          </p:cNvSpPr>
          <p:nvPr>
            <p:ph type="title"/>
          </p:nvPr>
        </p:nvSpPr>
        <p:spPr/>
        <p:txBody>
          <a:bodyPr/>
          <a:lstStyle/>
          <a:p>
            <a:r>
              <a:rPr lang="sv-SE" sz="3200" b="1" dirty="0"/>
              <a:t>Att planera ett byggprojekt</a:t>
            </a:r>
          </a:p>
        </p:txBody>
      </p:sp>
      <p:sp>
        <p:nvSpPr>
          <p:cNvPr id="3" name="Platshållare för innehåll 2">
            <a:extLst>
              <a:ext uri="{FF2B5EF4-FFF2-40B4-BE49-F238E27FC236}">
                <a16:creationId xmlns:a16="http://schemas.microsoft.com/office/drawing/2014/main" id="{E650B59B-D809-60D4-014B-C21547C3EEC6}"/>
              </a:ext>
            </a:extLst>
          </p:cNvPr>
          <p:cNvSpPr>
            <a:spLocks noGrp="1"/>
          </p:cNvSpPr>
          <p:nvPr>
            <p:ph idx="1"/>
          </p:nvPr>
        </p:nvSpPr>
        <p:spPr/>
        <p:txBody>
          <a:bodyPr/>
          <a:lstStyle/>
          <a:p>
            <a:pPr marL="342900" indent="-342900">
              <a:buFont typeface="Arial"/>
              <a:buChar char="•"/>
            </a:pPr>
            <a:r>
              <a:rPr lang="sv-SE" sz="1800" dirty="0"/>
              <a:t>Projekt försenas inte under produktionen. De försenas under planeringen, vi ser bara effekterna av det i </a:t>
            </a:r>
            <a:r>
              <a:rPr lang="sv-SE" sz="1800" dirty="0" err="1"/>
              <a:t>produktionsskedet</a:t>
            </a:r>
            <a:r>
              <a:rPr lang="sv-SE" sz="1800" dirty="0"/>
              <a:t>.</a:t>
            </a:r>
          </a:p>
          <a:p>
            <a:pPr marL="342900" indent="-342900">
              <a:buFont typeface="Arial"/>
              <a:buChar char="•"/>
            </a:pPr>
            <a:endParaRPr lang="sv-SE" sz="1800" dirty="0"/>
          </a:p>
          <a:p>
            <a:pPr marL="342900" indent="-342900">
              <a:buFont typeface="Arial"/>
              <a:buChar char="•"/>
            </a:pPr>
            <a:r>
              <a:rPr lang="sv-SE" sz="1800" dirty="0"/>
              <a:t>De flesta byggproblem kan spåras tillbaka till planeringen</a:t>
            </a:r>
          </a:p>
          <a:p>
            <a:pPr marL="342900" indent="-342900">
              <a:buFont typeface="Arial"/>
              <a:buChar char="•"/>
            </a:pPr>
            <a:r>
              <a:rPr lang="sv-SE" sz="1800" dirty="0"/>
              <a:t>Rätt team, rätt leverantörer, rätt ordning</a:t>
            </a:r>
          </a:p>
          <a:p>
            <a:pPr marL="342900" indent="-342900">
              <a:buFont typeface="Arial"/>
              <a:buChar char="•"/>
            </a:pPr>
            <a:r>
              <a:rPr lang="sv-SE" sz="1800" dirty="0"/>
              <a:t>I verkligheten: planeringsfasen är där du vinner eller förlorar projektet</a:t>
            </a:r>
          </a:p>
        </p:txBody>
      </p:sp>
    </p:spTree>
    <p:extLst>
      <p:ext uri="{BB962C8B-B14F-4D97-AF65-F5344CB8AC3E}">
        <p14:creationId xmlns:p14="http://schemas.microsoft.com/office/powerpoint/2010/main" val="1517893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7C55-4EDB-3393-9F9E-54A5F5F319A2}"/>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40D50E7E-3489-873A-5925-90A190597101}"/>
              </a:ext>
            </a:extLst>
          </p:cNvPr>
          <p:cNvSpPr>
            <a:spLocks noGrp="1"/>
          </p:cNvSpPr>
          <p:nvPr>
            <p:ph type="title"/>
          </p:nvPr>
        </p:nvSpPr>
        <p:spPr/>
        <p:txBody>
          <a:bodyPr/>
          <a:lstStyle/>
          <a:p>
            <a:r>
              <a:rPr lang="sv-SE" sz="3200" b="1" dirty="0"/>
              <a:t>Vad händer om vi inte når målen?</a:t>
            </a:r>
          </a:p>
        </p:txBody>
      </p:sp>
      <p:sp>
        <p:nvSpPr>
          <p:cNvPr id="3" name="Platshållare för innehåll 2">
            <a:extLst>
              <a:ext uri="{FF2B5EF4-FFF2-40B4-BE49-F238E27FC236}">
                <a16:creationId xmlns:a16="http://schemas.microsoft.com/office/drawing/2014/main" id="{8BF0EC5A-57C0-C12F-B624-6767F5031367}"/>
              </a:ext>
            </a:extLst>
          </p:cNvPr>
          <p:cNvSpPr>
            <a:spLocks noGrp="1"/>
          </p:cNvSpPr>
          <p:nvPr>
            <p:ph idx="1"/>
          </p:nvPr>
        </p:nvSpPr>
        <p:spPr/>
        <p:txBody>
          <a:bodyPr/>
          <a:lstStyle/>
          <a:p>
            <a:pPr marL="342900" indent="-342900">
              <a:buFont typeface="Arial"/>
              <a:buChar char="•"/>
            </a:pPr>
            <a:r>
              <a:rPr lang="sv-SE" sz="1800" dirty="0"/>
              <a:t>Ej klarat tidsmål</a:t>
            </a:r>
          </a:p>
          <a:p>
            <a:pPr marL="342900" indent="-342900">
              <a:buFont typeface="Arial"/>
              <a:buChar char="•"/>
            </a:pPr>
            <a:r>
              <a:rPr lang="sv-SE" sz="1800" dirty="0"/>
              <a:t>Ej klarat kvalitets-/hållbarhetsmål</a:t>
            </a:r>
          </a:p>
        </p:txBody>
      </p:sp>
    </p:spTree>
    <p:extLst>
      <p:ext uri="{BB962C8B-B14F-4D97-AF65-F5344CB8AC3E}">
        <p14:creationId xmlns:p14="http://schemas.microsoft.com/office/powerpoint/2010/main" val="1074631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CD4F3AF-9C29-DF30-FCD4-57BCBF921260}"/>
              </a:ext>
            </a:extLst>
          </p:cNvPr>
          <p:cNvSpPr>
            <a:spLocks noGrp="1"/>
          </p:cNvSpPr>
          <p:nvPr>
            <p:ph type="title"/>
          </p:nvPr>
        </p:nvSpPr>
        <p:spPr/>
        <p:txBody>
          <a:bodyPr/>
          <a:lstStyle/>
          <a:p>
            <a:r>
              <a:rPr lang="sv-SE" sz="3200" b="1" dirty="0"/>
              <a:t>Organisationen runt projektet</a:t>
            </a:r>
          </a:p>
        </p:txBody>
      </p:sp>
      <p:sp>
        <p:nvSpPr>
          <p:cNvPr id="3" name="Platshållare för innehåll 2">
            <a:extLst>
              <a:ext uri="{FF2B5EF4-FFF2-40B4-BE49-F238E27FC236}">
                <a16:creationId xmlns:a16="http://schemas.microsoft.com/office/drawing/2014/main" id="{0BFCA2A1-344D-EA35-2AC9-842920A1BC20}"/>
              </a:ext>
            </a:extLst>
          </p:cNvPr>
          <p:cNvSpPr>
            <a:spLocks noGrp="1"/>
          </p:cNvSpPr>
          <p:nvPr>
            <p:ph idx="1"/>
          </p:nvPr>
        </p:nvSpPr>
        <p:spPr/>
        <p:txBody>
          <a:bodyPr/>
          <a:lstStyle/>
          <a:p>
            <a:pPr marL="342900" indent="-342900">
              <a:buFont typeface="Arial"/>
              <a:buChar char="•"/>
            </a:pPr>
            <a:r>
              <a:rPr lang="sv-SE" sz="1800" dirty="0"/>
              <a:t>Stödfunktioner, operativt team, marknadsteam med flera</a:t>
            </a:r>
          </a:p>
          <a:p>
            <a:pPr marL="342900" indent="-342900">
              <a:buFont typeface="Arial"/>
              <a:buChar char="•"/>
            </a:pPr>
            <a:r>
              <a:rPr lang="sv-SE" sz="1800" dirty="0"/>
              <a:t>Rätt organisation ger kompetens som behövs i genomförandet</a:t>
            </a:r>
          </a:p>
          <a:p>
            <a:pPr marL="342900" indent="-342900">
              <a:buFont typeface="Arial"/>
              <a:buChar char="•"/>
            </a:pPr>
            <a:r>
              <a:rPr lang="sv-SE" sz="1800" dirty="0"/>
              <a:t>I verkligheten: projektorganisationen är ofta underskattad</a:t>
            </a:r>
          </a:p>
        </p:txBody>
      </p:sp>
    </p:spTree>
    <p:extLst>
      <p:ext uri="{BB962C8B-B14F-4D97-AF65-F5344CB8AC3E}">
        <p14:creationId xmlns:p14="http://schemas.microsoft.com/office/powerpoint/2010/main" val="37950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332D718-28A0-0C24-11E7-B66B12578490}"/>
              </a:ext>
            </a:extLst>
          </p:cNvPr>
          <p:cNvSpPr>
            <a:spLocks noGrp="1"/>
          </p:cNvSpPr>
          <p:nvPr>
            <p:ph type="title"/>
          </p:nvPr>
        </p:nvSpPr>
        <p:spPr/>
        <p:txBody>
          <a:bodyPr/>
          <a:lstStyle/>
          <a:p>
            <a:r>
              <a:rPr lang="sv-SE" sz="3200" b="1" dirty="0"/>
              <a:t>Leverantörer</a:t>
            </a:r>
          </a:p>
        </p:txBody>
      </p:sp>
      <p:sp>
        <p:nvSpPr>
          <p:cNvPr id="3" name="Platshållare för innehåll 2">
            <a:extLst>
              <a:ext uri="{FF2B5EF4-FFF2-40B4-BE49-F238E27FC236}">
                <a16:creationId xmlns:a16="http://schemas.microsoft.com/office/drawing/2014/main" id="{09D8E1F4-FB32-B7B7-9278-07BBC894AA58}"/>
              </a:ext>
            </a:extLst>
          </p:cNvPr>
          <p:cNvSpPr>
            <a:spLocks noGrp="1"/>
          </p:cNvSpPr>
          <p:nvPr>
            <p:ph idx="1"/>
          </p:nvPr>
        </p:nvSpPr>
        <p:spPr/>
        <p:txBody>
          <a:bodyPr/>
          <a:lstStyle/>
          <a:p>
            <a:pPr marL="342900" indent="-342900">
              <a:buFont typeface="Arial"/>
              <a:buChar char="•"/>
            </a:pPr>
            <a:r>
              <a:rPr lang="sv-SE" sz="1800" dirty="0"/>
              <a:t>Nivå 1–4 finns för varje kategori</a:t>
            </a:r>
          </a:p>
          <a:p>
            <a:pPr marL="342900" indent="-342900">
              <a:buFont typeface="Arial"/>
              <a:buChar char="•"/>
            </a:pPr>
            <a:r>
              <a:rPr lang="sv-SE" sz="1800" dirty="0"/>
              <a:t>Nivå 1: billigast, lägst kvalitet/erfarenhet</a:t>
            </a:r>
          </a:p>
          <a:p>
            <a:pPr marL="342900" indent="-342900">
              <a:buFont typeface="Arial"/>
              <a:buChar char="•"/>
            </a:pPr>
            <a:r>
              <a:rPr lang="sv-SE" sz="1800" dirty="0"/>
              <a:t>Nivå 4: dyrast, bäst kvalitet/erfarenhet</a:t>
            </a:r>
          </a:p>
          <a:p>
            <a:pPr marL="342900" indent="-342900">
              <a:buFont typeface="Arial"/>
              <a:buChar char="•"/>
            </a:pPr>
            <a:r>
              <a:rPr lang="sv-SE" sz="1800" dirty="0"/>
              <a:t>Priset beror på er BYA/BTA-klass (A–D)</a:t>
            </a:r>
          </a:p>
        </p:txBody>
      </p:sp>
    </p:spTree>
    <p:extLst>
      <p:ext uri="{BB962C8B-B14F-4D97-AF65-F5344CB8AC3E}">
        <p14:creationId xmlns:p14="http://schemas.microsoft.com/office/powerpoint/2010/main" val="2363739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0F95E3E-2CE8-D8CF-AF79-FE93CF8C77BC}"/>
              </a:ext>
            </a:extLst>
          </p:cNvPr>
          <p:cNvSpPr>
            <a:spLocks noGrp="1"/>
          </p:cNvSpPr>
          <p:nvPr>
            <p:ph type="title"/>
          </p:nvPr>
        </p:nvSpPr>
        <p:spPr/>
        <p:txBody>
          <a:bodyPr/>
          <a:lstStyle/>
          <a:p>
            <a:r>
              <a:rPr lang="sv-SE" sz="3200" b="1" dirty="0"/>
              <a:t>Att välja organisation och leverantörer</a:t>
            </a:r>
          </a:p>
        </p:txBody>
      </p:sp>
      <p:sp>
        <p:nvSpPr>
          <p:cNvPr id="3" name="Platshållare för innehåll 2">
            <a:extLst>
              <a:ext uri="{FF2B5EF4-FFF2-40B4-BE49-F238E27FC236}">
                <a16:creationId xmlns:a16="http://schemas.microsoft.com/office/drawing/2014/main" id="{2C2EFA84-8A71-DCE8-ED0C-B19AA9EE5609}"/>
              </a:ext>
            </a:extLst>
          </p:cNvPr>
          <p:cNvSpPr>
            <a:spLocks noGrp="1"/>
          </p:cNvSpPr>
          <p:nvPr>
            <p:ph idx="1"/>
          </p:nvPr>
        </p:nvSpPr>
        <p:spPr/>
        <p:txBody>
          <a:bodyPr/>
          <a:lstStyle/>
          <a:p>
            <a:pPr marL="342900" indent="-342900">
              <a:buFont typeface="Arial"/>
              <a:buChar char="•"/>
            </a:pPr>
            <a:endParaRPr lang="sv-SE" sz="1800" dirty="0"/>
          </a:p>
          <a:p>
            <a:pPr marL="342900" indent="-342900">
              <a:buFont typeface="Arial"/>
              <a:buChar char="•"/>
            </a:pPr>
            <a:r>
              <a:rPr lang="sv-SE" sz="1800" dirty="0"/>
              <a:t>Kostnad behöver balanseras mot projektkraven.</a:t>
            </a:r>
          </a:p>
          <a:p>
            <a:pPr marL="342900" indent="-342900">
              <a:buFont typeface="Arial"/>
              <a:buChar char="•"/>
            </a:pPr>
            <a:r>
              <a:rPr lang="sv-SE" sz="1800" dirty="0"/>
              <a:t>Varje val = en avvägning mellan pris, kvalitet och erfarenhet</a:t>
            </a:r>
          </a:p>
          <a:p>
            <a:pPr marL="342900" indent="-342900">
              <a:buFont typeface="Arial"/>
              <a:buChar char="•"/>
            </a:pPr>
            <a:r>
              <a:rPr lang="sv-SE" sz="1800" dirty="0"/>
              <a:t>Billigare leverantör = lägre Q/H men mer pengar kvar. Men de gör också att risken ökar för ökade garantiavsättningar.</a:t>
            </a:r>
          </a:p>
          <a:p>
            <a:pPr marL="342900" indent="-342900">
              <a:buFont typeface="Arial"/>
              <a:buChar char="•"/>
            </a:pPr>
            <a:r>
              <a:rPr lang="sv-SE" sz="1800" dirty="0"/>
              <a:t>Dyrare leverantör = bättre utfall men tunnare budget</a:t>
            </a:r>
          </a:p>
          <a:p>
            <a:pPr marL="342900" indent="-342900">
              <a:buFont typeface="Arial"/>
              <a:buChar char="•"/>
            </a:pPr>
            <a:endParaRPr lang="sv-SE" sz="1800" dirty="0"/>
          </a:p>
          <a:p>
            <a:pPr marL="342900" indent="-342900">
              <a:buFont typeface="Arial"/>
              <a:buChar char="•"/>
            </a:pPr>
            <a:r>
              <a:rPr lang="sv-SE" sz="1800" dirty="0"/>
              <a:t>Totalt ska 13 val göras. Efter varje val blandas händelsekorten in med de tidigare, och ett kort dras.</a:t>
            </a:r>
          </a:p>
          <a:p>
            <a:pPr marL="342900" indent="-342900">
              <a:buFont typeface="Arial"/>
              <a:buChar char="•"/>
            </a:pPr>
            <a:endParaRPr lang="sv-SE" sz="1800" dirty="0"/>
          </a:p>
          <a:p>
            <a:pPr marL="342900" indent="-342900">
              <a:buFont typeface="Arial"/>
              <a:buChar char="•"/>
            </a:pPr>
            <a:endParaRPr lang="sv-SE" sz="1800" dirty="0"/>
          </a:p>
        </p:txBody>
      </p:sp>
    </p:spTree>
    <p:extLst>
      <p:ext uri="{BB962C8B-B14F-4D97-AF65-F5344CB8AC3E}">
        <p14:creationId xmlns:p14="http://schemas.microsoft.com/office/powerpoint/2010/main" val="1732519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C151E80-2791-2960-6E3B-1823340E577B}"/>
              </a:ext>
            </a:extLst>
          </p:cNvPr>
          <p:cNvSpPr>
            <a:spLocks noGrp="1"/>
          </p:cNvSpPr>
          <p:nvPr>
            <p:ph type="title"/>
          </p:nvPr>
        </p:nvSpPr>
        <p:spPr/>
        <p:txBody>
          <a:bodyPr/>
          <a:lstStyle/>
          <a:p>
            <a:r>
              <a:rPr lang="sv-SE" sz="3200" b="1" dirty="0"/>
              <a:t>Företagskultur</a:t>
            </a:r>
          </a:p>
        </p:txBody>
      </p:sp>
      <p:sp>
        <p:nvSpPr>
          <p:cNvPr id="3" name="Platshållare för innehåll 2">
            <a:extLst>
              <a:ext uri="{FF2B5EF4-FFF2-40B4-BE49-F238E27FC236}">
                <a16:creationId xmlns:a16="http://schemas.microsoft.com/office/drawing/2014/main" id="{0098A08D-1812-AA96-BF50-0723BD8A8DC8}"/>
              </a:ext>
            </a:extLst>
          </p:cNvPr>
          <p:cNvSpPr>
            <a:spLocks noGrp="1"/>
          </p:cNvSpPr>
          <p:nvPr>
            <p:ph idx="1"/>
          </p:nvPr>
        </p:nvSpPr>
        <p:spPr/>
        <p:txBody>
          <a:bodyPr/>
          <a:lstStyle/>
          <a:p>
            <a:pPr marL="342900" indent="-342900">
              <a:buFont typeface="Arial"/>
              <a:buChar char="•"/>
            </a:pPr>
            <a:r>
              <a:rPr lang="sv-SE" sz="1600" b="1" dirty="0"/>
              <a:t>STA</a:t>
            </a:r>
            <a:r>
              <a:rPr lang="sv-SE" sz="1600" dirty="0"/>
              <a:t> — Standardisering: gemensamma arbetssätt och rutiner</a:t>
            </a:r>
          </a:p>
          <a:p>
            <a:pPr marL="342900" indent="-342900">
              <a:buFont typeface="Arial"/>
              <a:buChar char="•"/>
            </a:pPr>
            <a:r>
              <a:rPr lang="sv-SE" sz="1600" b="1" dirty="0"/>
              <a:t>KOM</a:t>
            </a:r>
            <a:r>
              <a:rPr lang="sv-SE" sz="1600" dirty="0"/>
              <a:t> — Kommunikation: tydlig information internt och externt</a:t>
            </a:r>
          </a:p>
          <a:p>
            <a:pPr marL="342900" indent="-342900">
              <a:buFont typeface="Arial"/>
              <a:buChar char="•"/>
            </a:pPr>
            <a:r>
              <a:rPr lang="sv-SE" sz="1600" b="1" dirty="0"/>
              <a:t>SAM</a:t>
            </a:r>
            <a:r>
              <a:rPr lang="sv-SE" sz="1600" dirty="0"/>
              <a:t> — Samverkan: samarbete mellan aktörer</a:t>
            </a:r>
          </a:p>
          <a:p>
            <a:pPr marL="342900" indent="-342900">
              <a:buFont typeface="Arial"/>
              <a:buChar char="•"/>
            </a:pPr>
            <a:r>
              <a:rPr lang="sv-SE" sz="1600" b="1" dirty="0"/>
              <a:t>NOG</a:t>
            </a:r>
            <a:r>
              <a:rPr lang="sv-SE" sz="1600" dirty="0"/>
              <a:t> — Noggrannhet: precision i utförande och dokumentation</a:t>
            </a:r>
          </a:p>
          <a:p>
            <a:pPr marL="342900" indent="-342900">
              <a:buFont typeface="Arial"/>
              <a:buChar char="•"/>
            </a:pPr>
            <a:r>
              <a:rPr lang="sv-SE" sz="1600" b="1" dirty="0"/>
              <a:t>INN</a:t>
            </a:r>
            <a:r>
              <a:rPr lang="sv-SE" sz="1600" dirty="0"/>
              <a:t> — Innovation: nya lösningar och arbetssätt</a:t>
            </a:r>
          </a:p>
          <a:p>
            <a:pPr marL="342900" indent="-342900">
              <a:buFont typeface="Arial"/>
              <a:buChar char="•"/>
            </a:pPr>
            <a:r>
              <a:rPr lang="sv-SE" sz="1600" b="1" dirty="0"/>
              <a:t>ABM</a:t>
            </a:r>
            <a:r>
              <a:rPr lang="sv-SE" sz="1600" dirty="0"/>
              <a:t> — Arbetsmiljö: säkerhet och trivsel på arbetsplatsen</a:t>
            </a:r>
          </a:p>
          <a:p>
            <a:pPr marL="342900" indent="-342900">
              <a:buFont typeface="Arial"/>
              <a:buChar char="•"/>
            </a:pPr>
            <a:endParaRPr lang="sv-SE" sz="1600" dirty="0"/>
          </a:p>
          <a:p>
            <a:pPr marL="0" indent="0">
              <a:buNone/>
            </a:pPr>
            <a:r>
              <a:rPr lang="sv-SE" sz="1600" dirty="0"/>
              <a:t>Dessa kommer vara avgörande under genomförandefasen, och ett strategiskt tips är att försöka få till en spridning. Det vill säga att man har samlat resurser så att man har poäng i alla kategorier. Hur de används tar vi i genomförandet.</a:t>
            </a:r>
          </a:p>
        </p:txBody>
      </p:sp>
    </p:spTree>
    <p:extLst>
      <p:ext uri="{BB962C8B-B14F-4D97-AF65-F5344CB8AC3E}">
        <p14:creationId xmlns:p14="http://schemas.microsoft.com/office/powerpoint/2010/main" val="341565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F31AC27-1310-04FB-E41A-F385C46C228B}"/>
              </a:ext>
            </a:extLst>
          </p:cNvPr>
          <p:cNvSpPr>
            <a:spLocks noGrp="1"/>
          </p:cNvSpPr>
          <p:nvPr>
            <p:ph type="title"/>
          </p:nvPr>
        </p:nvSpPr>
        <p:spPr/>
        <p:txBody>
          <a:bodyPr/>
          <a:lstStyle/>
          <a:p>
            <a:r>
              <a:rPr lang="sv-SE" sz="3200" b="1" dirty="0"/>
              <a:t>Erfarenhet — den dolda resursen</a:t>
            </a:r>
          </a:p>
        </p:txBody>
      </p:sp>
      <p:sp>
        <p:nvSpPr>
          <p:cNvPr id="3" name="Platshållare för innehåll 2">
            <a:extLst>
              <a:ext uri="{FF2B5EF4-FFF2-40B4-BE49-F238E27FC236}">
                <a16:creationId xmlns:a16="http://schemas.microsoft.com/office/drawing/2014/main" id="{47D5EF7D-82A1-A431-4A4D-05EC2248B144}"/>
              </a:ext>
            </a:extLst>
          </p:cNvPr>
          <p:cNvSpPr>
            <a:spLocks noGrp="1"/>
          </p:cNvSpPr>
          <p:nvPr>
            <p:ph idx="1"/>
          </p:nvPr>
        </p:nvSpPr>
        <p:spPr/>
        <p:txBody>
          <a:bodyPr/>
          <a:lstStyle/>
          <a:p>
            <a:pPr marL="342900" indent="-342900">
              <a:buFont typeface="Arial"/>
              <a:buChar char="•"/>
            </a:pPr>
            <a:r>
              <a:rPr lang="sv-SE" sz="1800" dirty="0"/>
              <a:t>Leverantörer och organisation ger erfarenhetspoäng</a:t>
            </a:r>
          </a:p>
          <a:p>
            <a:pPr marL="342900" indent="-342900">
              <a:buFont typeface="Arial"/>
              <a:buChar char="•"/>
            </a:pPr>
            <a:r>
              <a:rPr lang="sv-SE" sz="1800" dirty="0"/>
              <a:t>Erfarenhet = bättre förmåga att hantera det oväntade</a:t>
            </a:r>
          </a:p>
          <a:p>
            <a:pPr marL="342900" indent="-342900">
              <a:buFont typeface="Arial"/>
              <a:buChar char="•"/>
            </a:pPr>
            <a:r>
              <a:rPr lang="sv-SE" sz="1800" dirty="0"/>
              <a:t>I verkligheten: ett erfaret team löser problem innan de uppstår</a:t>
            </a:r>
          </a:p>
          <a:p>
            <a:pPr marL="342900" indent="-342900">
              <a:buFont typeface="Arial"/>
              <a:buChar char="•"/>
            </a:pPr>
            <a:endParaRPr lang="sv-SE" sz="1800" dirty="0"/>
          </a:p>
          <a:p>
            <a:pPr marL="342900" indent="-342900">
              <a:buFont typeface="Arial"/>
              <a:buChar char="•"/>
            </a:pPr>
            <a:r>
              <a:rPr lang="sv-SE" sz="1800" dirty="0"/>
              <a:t>För varje erfarenhetspoäng får ni addera 1 till alla tärningsslag under planering och genomförande.</a:t>
            </a:r>
          </a:p>
        </p:txBody>
      </p:sp>
    </p:spTree>
    <p:extLst>
      <p:ext uri="{BB962C8B-B14F-4D97-AF65-F5344CB8AC3E}">
        <p14:creationId xmlns:p14="http://schemas.microsoft.com/office/powerpoint/2010/main" val="12080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D2F65-B767-AD8E-9CA2-1978A19C536B}"/>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6CBCD9A4-C1DC-F7C5-F13E-263608207E8F}"/>
              </a:ext>
            </a:extLst>
          </p:cNvPr>
          <p:cNvSpPr>
            <a:spLocks noGrp="1"/>
          </p:cNvSpPr>
          <p:nvPr>
            <p:ph type="title"/>
          </p:nvPr>
        </p:nvSpPr>
        <p:spPr/>
        <p:txBody>
          <a:bodyPr/>
          <a:lstStyle/>
          <a:p>
            <a:r>
              <a:rPr lang="sv-SE" sz="3200" b="1" dirty="0"/>
              <a:t>Spelplan 2</a:t>
            </a:r>
          </a:p>
        </p:txBody>
      </p:sp>
    </p:spTree>
    <p:extLst>
      <p:ext uri="{BB962C8B-B14F-4D97-AF65-F5344CB8AC3E}">
        <p14:creationId xmlns:p14="http://schemas.microsoft.com/office/powerpoint/2010/main" val="4193074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071BFFD-FEC6-B4B9-C02A-4F7C3C8E8999}"/>
              </a:ext>
            </a:extLst>
          </p:cNvPr>
          <p:cNvSpPr>
            <a:spLocks noGrp="1"/>
          </p:cNvSpPr>
          <p:nvPr>
            <p:ph type="title"/>
          </p:nvPr>
        </p:nvSpPr>
        <p:spPr/>
        <p:txBody>
          <a:bodyPr/>
          <a:lstStyle/>
          <a:p>
            <a:r>
              <a:rPr lang="sv-SE" sz="3200" b="1" dirty="0"/>
              <a:t>Arbetschefen (AC)</a:t>
            </a:r>
          </a:p>
        </p:txBody>
      </p:sp>
      <p:sp>
        <p:nvSpPr>
          <p:cNvPr id="3" name="Platshållare för innehåll 2">
            <a:extLst>
              <a:ext uri="{FF2B5EF4-FFF2-40B4-BE49-F238E27FC236}">
                <a16:creationId xmlns:a16="http://schemas.microsoft.com/office/drawing/2014/main" id="{E5694B85-D190-841E-7794-31ABD2CB72D1}"/>
              </a:ext>
            </a:extLst>
          </p:cNvPr>
          <p:cNvSpPr>
            <a:spLocks noGrp="1"/>
          </p:cNvSpPr>
          <p:nvPr>
            <p:ph idx="1"/>
          </p:nvPr>
        </p:nvSpPr>
        <p:spPr/>
        <p:txBody>
          <a:bodyPr/>
          <a:lstStyle/>
          <a:p>
            <a:pPr marL="342900" indent="-342900">
              <a:buFont typeface="Arial"/>
              <a:buChar char="•"/>
            </a:pPr>
            <a:endParaRPr lang="sv-SE" sz="1800" dirty="0"/>
          </a:p>
        </p:txBody>
      </p:sp>
    </p:spTree>
    <p:extLst>
      <p:ext uri="{BB962C8B-B14F-4D97-AF65-F5344CB8AC3E}">
        <p14:creationId xmlns:p14="http://schemas.microsoft.com/office/powerpoint/2010/main" val="2055867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94883B2-3D03-B6F1-F677-58D1FBB23BF5}"/>
              </a:ext>
            </a:extLst>
          </p:cNvPr>
          <p:cNvSpPr>
            <a:spLocks noGrp="1"/>
          </p:cNvSpPr>
          <p:nvPr>
            <p:ph type="title"/>
          </p:nvPr>
        </p:nvSpPr>
        <p:spPr/>
        <p:txBody>
          <a:bodyPr/>
          <a:lstStyle/>
          <a:p>
            <a:r>
              <a:rPr lang="sv-SE" sz="3200" b="1" dirty="0"/>
              <a:t>Fas 2 — Översikt</a:t>
            </a:r>
          </a:p>
        </p:txBody>
      </p:sp>
      <p:sp>
        <p:nvSpPr>
          <p:cNvPr id="3" name="Platshållare för innehåll 2">
            <a:extLst>
              <a:ext uri="{FF2B5EF4-FFF2-40B4-BE49-F238E27FC236}">
                <a16:creationId xmlns:a16="http://schemas.microsoft.com/office/drawing/2014/main" id="{77E24AD3-932A-6EE3-6CBA-45DC947B896A}"/>
              </a:ext>
            </a:extLst>
          </p:cNvPr>
          <p:cNvSpPr>
            <a:spLocks noGrp="1"/>
          </p:cNvSpPr>
          <p:nvPr>
            <p:ph idx="1"/>
          </p:nvPr>
        </p:nvSpPr>
        <p:spPr/>
        <p:txBody>
          <a:bodyPr/>
          <a:lstStyle/>
          <a:p>
            <a:pPr marL="342900" indent="-342900">
              <a:buFont typeface="Arial"/>
              <a:buChar char="•"/>
            </a:pPr>
            <a:r>
              <a:rPr lang="sv-SE" sz="1600" dirty="0"/>
              <a:t>Välj Arbetschef (AC)</a:t>
            </a:r>
          </a:p>
          <a:p>
            <a:pPr marL="342900" indent="-342900">
              <a:buFont typeface="Arial"/>
              <a:buChar char="•"/>
            </a:pPr>
            <a:r>
              <a:rPr lang="sv-SE" sz="1600" dirty="0"/>
              <a:t>13 planeringssteg i ordning — ni väljer leverantör eller organisation i varje</a:t>
            </a:r>
          </a:p>
          <a:p>
            <a:pPr marL="342900" indent="-342900">
              <a:buFont typeface="Arial"/>
              <a:buChar char="•"/>
            </a:pPr>
            <a:r>
              <a:rPr lang="sv-SE" sz="1600" dirty="0"/>
              <a:t>Varje val kostar pengar från ABT och påverkar Q, H, T och erfarenhet</a:t>
            </a:r>
          </a:p>
          <a:p>
            <a:pPr marL="342900" indent="-342900">
              <a:buFont typeface="Arial"/>
              <a:buChar char="•"/>
            </a:pPr>
            <a:r>
              <a:rPr lang="sv-SE" sz="1600" dirty="0"/>
              <a:t>Händelsekort efter varje steg — tärningsslag + erfarenhet avgör utfall</a:t>
            </a:r>
          </a:p>
        </p:txBody>
      </p:sp>
    </p:spTree>
    <p:extLst>
      <p:ext uri="{BB962C8B-B14F-4D97-AF65-F5344CB8AC3E}">
        <p14:creationId xmlns:p14="http://schemas.microsoft.com/office/powerpoint/2010/main" val="2349096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7CC062F-6914-2C2E-9561-23A4FB7D748E}"/>
              </a:ext>
            </a:extLst>
          </p:cNvPr>
          <p:cNvSpPr>
            <a:spLocks noGrp="1"/>
          </p:cNvSpPr>
          <p:nvPr>
            <p:ph type="title"/>
          </p:nvPr>
        </p:nvSpPr>
        <p:spPr/>
        <p:txBody>
          <a:bodyPr/>
          <a:lstStyle/>
          <a:p>
            <a:r>
              <a:rPr lang="sv-SE" sz="3200" b="1" dirty="0"/>
              <a:t>Förkortningar att kunna</a:t>
            </a:r>
          </a:p>
        </p:txBody>
      </p:sp>
      <p:sp>
        <p:nvSpPr>
          <p:cNvPr id="3" name="Platshållare för innehåll 2">
            <a:extLst>
              <a:ext uri="{FF2B5EF4-FFF2-40B4-BE49-F238E27FC236}">
                <a16:creationId xmlns:a16="http://schemas.microsoft.com/office/drawing/2014/main" id="{B0E84F1B-4318-F2A9-FBC6-73D1D6FB6CAF}"/>
              </a:ext>
            </a:extLst>
          </p:cNvPr>
          <p:cNvSpPr>
            <a:spLocks noGrp="1"/>
          </p:cNvSpPr>
          <p:nvPr>
            <p:ph idx="1"/>
          </p:nvPr>
        </p:nvSpPr>
        <p:spPr/>
        <p:txBody>
          <a:bodyPr/>
          <a:lstStyle/>
          <a:p>
            <a:pPr marL="342900" indent="-342900">
              <a:buFont typeface="Arial"/>
              <a:buChar char="•"/>
            </a:pPr>
            <a:r>
              <a:rPr lang="sv-SE" sz="1800" b="1" dirty="0"/>
              <a:t>AC</a:t>
            </a:r>
            <a:r>
              <a:rPr lang="sv-SE" sz="1800" dirty="0"/>
              <a:t> = Arbetschef</a:t>
            </a:r>
          </a:p>
          <a:p>
            <a:pPr marL="342900" indent="-342900">
              <a:buFont typeface="Arial"/>
              <a:buChar char="•"/>
            </a:pPr>
            <a:r>
              <a:rPr lang="sv-SE" sz="1800" b="1" dirty="0"/>
              <a:t>STA / KOM / SAM / NOG / INN / ABM</a:t>
            </a:r>
            <a:r>
              <a:rPr lang="sv-SE" sz="1800" dirty="0"/>
              <a:t> = de sex kompetenserna</a:t>
            </a:r>
          </a:p>
          <a:p>
            <a:pPr marL="342900" indent="-342900">
              <a:buFont typeface="Arial"/>
              <a:buChar char="•"/>
            </a:pPr>
            <a:r>
              <a:rPr lang="sv-SE" sz="1800" b="1" dirty="0"/>
              <a:t>Erfarenhet</a:t>
            </a:r>
            <a:r>
              <a:rPr lang="sv-SE" sz="1800" dirty="0"/>
              <a:t> = bonus på tärningsslag (max +8)</a:t>
            </a:r>
          </a:p>
        </p:txBody>
      </p:sp>
    </p:spTree>
    <p:extLst>
      <p:ext uri="{BB962C8B-B14F-4D97-AF65-F5344CB8AC3E}">
        <p14:creationId xmlns:p14="http://schemas.microsoft.com/office/powerpoint/2010/main" val="2778866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F8D2105-68F7-6CEF-1970-858194221019}"/>
              </a:ext>
            </a:extLst>
          </p:cNvPr>
          <p:cNvSpPr>
            <a:spLocks noGrp="1"/>
          </p:cNvSpPr>
          <p:nvPr>
            <p:ph type="title"/>
          </p:nvPr>
        </p:nvSpPr>
        <p:spPr/>
        <p:txBody>
          <a:bodyPr/>
          <a:lstStyle/>
          <a:p>
            <a:r>
              <a:rPr lang="sv-SE" sz="3200" b="1" dirty="0"/>
              <a:t>Att tänka på</a:t>
            </a:r>
          </a:p>
        </p:txBody>
      </p:sp>
      <p:sp>
        <p:nvSpPr>
          <p:cNvPr id="3" name="Platshållare för innehåll 2">
            <a:extLst>
              <a:ext uri="{FF2B5EF4-FFF2-40B4-BE49-F238E27FC236}">
                <a16:creationId xmlns:a16="http://schemas.microsoft.com/office/drawing/2014/main" id="{7F01AC27-63E5-BECC-92FF-F3BD341F45D2}"/>
              </a:ext>
            </a:extLst>
          </p:cNvPr>
          <p:cNvSpPr>
            <a:spLocks noGrp="1"/>
          </p:cNvSpPr>
          <p:nvPr>
            <p:ph idx="1"/>
          </p:nvPr>
        </p:nvSpPr>
        <p:spPr/>
        <p:txBody>
          <a:bodyPr/>
          <a:lstStyle/>
          <a:p>
            <a:pPr marL="342900" indent="-342900">
              <a:buFont typeface="Arial"/>
              <a:buChar char="•"/>
            </a:pPr>
            <a:r>
              <a:rPr lang="sv-SE" sz="1800" dirty="0"/>
              <a:t>Erfarenhet ger bonus på tärningen — men de erfarna leverantörerna kostar</a:t>
            </a:r>
          </a:p>
          <a:p>
            <a:pPr marL="342900" indent="-342900">
              <a:buFont typeface="Arial"/>
              <a:buChar char="•"/>
            </a:pPr>
            <a:r>
              <a:rPr lang="sv-SE" sz="1800" dirty="0"/>
              <a:t>Kompetenser från organisationen kan spelas som kort i Fas 3</a:t>
            </a:r>
          </a:p>
          <a:p>
            <a:pPr marL="342900" indent="-342900">
              <a:buFont typeface="Arial"/>
              <a:buChar char="•"/>
            </a:pPr>
            <a:r>
              <a:rPr lang="sv-SE" sz="1800" dirty="0"/>
              <a:t>Håll koll på anskaffningskostnaden — tar pengarna slut måste ni låna, och det får konsekvenser.</a:t>
            </a:r>
          </a:p>
        </p:txBody>
      </p:sp>
    </p:spTree>
    <p:extLst>
      <p:ext uri="{BB962C8B-B14F-4D97-AF65-F5344CB8AC3E}">
        <p14:creationId xmlns:p14="http://schemas.microsoft.com/office/powerpoint/2010/main" val="3870854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5A07C9-EEFC-A0D8-4FFF-13EB606A9D2D}"/>
              </a:ext>
            </a:extLst>
          </p:cNvPr>
          <p:cNvSpPr>
            <a:spLocks noGrp="1"/>
          </p:cNvSpPr>
          <p:nvPr>
            <p:ph type="title"/>
          </p:nvPr>
        </p:nvSpPr>
        <p:spPr/>
        <p:txBody>
          <a:bodyPr/>
          <a:lstStyle/>
          <a:p>
            <a:r>
              <a:rPr lang="sv-SE" sz="3200" b="1" dirty="0"/>
              <a:t>Genomförandefasen</a:t>
            </a:r>
          </a:p>
        </p:txBody>
      </p:sp>
      <p:sp>
        <p:nvSpPr>
          <p:cNvPr id="3" name="Platshållare för innehåll 2">
            <a:extLst>
              <a:ext uri="{FF2B5EF4-FFF2-40B4-BE49-F238E27FC236}">
                <a16:creationId xmlns:a16="http://schemas.microsoft.com/office/drawing/2014/main" id="{23F07794-782F-9BCA-F1F9-98695E6FD7E7}"/>
              </a:ext>
            </a:extLst>
          </p:cNvPr>
          <p:cNvSpPr>
            <a:spLocks noGrp="1"/>
          </p:cNvSpPr>
          <p:nvPr>
            <p:ph idx="1"/>
          </p:nvPr>
        </p:nvSpPr>
        <p:spPr/>
        <p:txBody>
          <a:bodyPr/>
          <a:lstStyle/>
          <a:p>
            <a:pPr marL="342900" indent="-342900">
              <a:buFont typeface="Arial"/>
              <a:buChar char="•"/>
            </a:pPr>
            <a:r>
              <a:rPr lang="sv-SE" sz="1800" dirty="0"/>
              <a:t>Åtta faser totalt</a:t>
            </a:r>
          </a:p>
          <a:p>
            <a:pPr marL="342900" indent="-342900">
              <a:buFont typeface="Arial"/>
              <a:buChar char="•"/>
            </a:pPr>
            <a:r>
              <a:rPr lang="sv-SE" sz="1800" dirty="0"/>
              <a:t>Ett kort för varje, där ni behöver agera med hjälp av företagskulturen.</a:t>
            </a:r>
          </a:p>
          <a:p>
            <a:pPr marL="342900" indent="-342900">
              <a:buFont typeface="Arial"/>
              <a:buChar char="•"/>
            </a:pPr>
            <a:r>
              <a:rPr lang="sv-SE" sz="1800" dirty="0"/>
              <a:t>Om ni ska undvika påverkan, så räcker det inte att ”sitta still i båten”. Ni måste använda ”företagskulturen”. Om ni inte tror att de resurser ni har, så kan ni göra extraaktiviteter. Men tänk på att ju tidigare ni planerar dem, desto mindre kostar de. Men ej använda ”resurser” ger inga pengar tillbaka.</a:t>
            </a:r>
          </a:p>
        </p:txBody>
      </p:sp>
    </p:spTree>
    <p:extLst>
      <p:ext uri="{BB962C8B-B14F-4D97-AF65-F5344CB8AC3E}">
        <p14:creationId xmlns:p14="http://schemas.microsoft.com/office/powerpoint/2010/main" val="2313784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E87E7C7-0640-0CCF-463B-ACEB9F194477}"/>
              </a:ext>
            </a:extLst>
          </p:cNvPr>
          <p:cNvSpPr>
            <a:spLocks noGrp="1"/>
          </p:cNvSpPr>
          <p:nvPr>
            <p:ph type="title"/>
          </p:nvPr>
        </p:nvSpPr>
        <p:spPr/>
        <p:txBody>
          <a:bodyPr/>
          <a:lstStyle/>
          <a:p>
            <a:r>
              <a:rPr lang="sv-SE" sz="3200" b="1" dirty="0"/>
              <a:t>Att hantera risker under byggtid</a:t>
            </a:r>
          </a:p>
        </p:txBody>
      </p:sp>
      <p:sp>
        <p:nvSpPr>
          <p:cNvPr id="3" name="Platshållare för innehåll 2">
            <a:extLst>
              <a:ext uri="{FF2B5EF4-FFF2-40B4-BE49-F238E27FC236}">
                <a16:creationId xmlns:a16="http://schemas.microsoft.com/office/drawing/2014/main" id="{B3CE0770-9332-E710-0169-F6C572113F95}"/>
              </a:ext>
            </a:extLst>
          </p:cNvPr>
          <p:cNvSpPr>
            <a:spLocks noGrp="1"/>
          </p:cNvSpPr>
          <p:nvPr>
            <p:ph idx="1"/>
          </p:nvPr>
        </p:nvSpPr>
        <p:spPr/>
        <p:txBody>
          <a:bodyPr/>
          <a:lstStyle/>
          <a:p>
            <a:pPr marL="342900" indent="-342900">
              <a:buFont typeface="Arial"/>
              <a:buChar char="•"/>
            </a:pPr>
            <a:r>
              <a:rPr lang="sv-SE" sz="1800" dirty="0"/>
              <a:t>Oväntade markförhållanden, försenade leveranser, väderproblem</a:t>
            </a:r>
          </a:p>
          <a:p>
            <a:pPr marL="342900" indent="-342900">
              <a:buFont typeface="Arial"/>
              <a:buChar char="•"/>
            </a:pPr>
            <a:r>
              <a:rPr lang="sv-SE" sz="1800" dirty="0"/>
              <a:t>Riskbuffert och erfarenhet är dina bästa vänner</a:t>
            </a:r>
          </a:p>
          <a:p>
            <a:pPr marL="342900" indent="-342900">
              <a:buFont typeface="Arial"/>
              <a:buChar char="•"/>
            </a:pPr>
            <a:r>
              <a:rPr lang="sv-SE" sz="1800" dirty="0"/>
              <a:t>I verkligheten: proaktiv riskhantering vs. att släcka bränder</a:t>
            </a:r>
          </a:p>
        </p:txBody>
      </p:sp>
    </p:spTree>
    <p:extLst>
      <p:ext uri="{BB962C8B-B14F-4D97-AF65-F5344CB8AC3E}">
        <p14:creationId xmlns:p14="http://schemas.microsoft.com/office/powerpoint/2010/main" val="272448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27DD9A9-E9C7-F655-ABEB-CE082228C26A}"/>
              </a:ext>
            </a:extLst>
          </p:cNvPr>
          <p:cNvSpPr>
            <a:spLocks noGrp="1"/>
          </p:cNvSpPr>
          <p:nvPr>
            <p:ph type="title"/>
          </p:nvPr>
        </p:nvSpPr>
        <p:spPr/>
        <p:txBody>
          <a:bodyPr/>
          <a:lstStyle/>
          <a:p>
            <a:r>
              <a:rPr lang="sv-SE" sz="3200" b="1" dirty="0"/>
              <a:t>Kompetens i praktiken</a:t>
            </a:r>
          </a:p>
        </p:txBody>
      </p:sp>
      <p:sp>
        <p:nvSpPr>
          <p:cNvPr id="3" name="Platshållare för innehåll 2">
            <a:extLst>
              <a:ext uri="{FF2B5EF4-FFF2-40B4-BE49-F238E27FC236}">
                <a16:creationId xmlns:a16="http://schemas.microsoft.com/office/drawing/2014/main" id="{E634023A-A70A-826E-5202-E11AC0C64BBD}"/>
              </a:ext>
            </a:extLst>
          </p:cNvPr>
          <p:cNvSpPr>
            <a:spLocks noGrp="1"/>
          </p:cNvSpPr>
          <p:nvPr>
            <p:ph idx="1"/>
          </p:nvPr>
        </p:nvSpPr>
        <p:spPr/>
        <p:txBody>
          <a:bodyPr/>
          <a:lstStyle/>
          <a:p>
            <a:pPr marL="342900" indent="-342900">
              <a:buFont typeface="Arial"/>
              <a:buChar char="•"/>
            </a:pPr>
            <a:r>
              <a:rPr lang="sv-SE" sz="1600" b="1" dirty="0"/>
              <a:t>STA:</a:t>
            </a:r>
            <a:r>
              <a:rPr lang="sv-SE" sz="1600" dirty="0"/>
              <a:t> "Vi gör så här hos oss" — tydliga processer</a:t>
            </a:r>
          </a:p>
          <a:p>
            <a:pPr marL="342900" indent="-342900">
              <a:buFont typeface="Arial"/>
              <a:buChar char="•"/>
            </a:pPr>
            <a:r>
              <a:rPr lang="sv-SE" sz="1600" b="1" dirty="0"/>
              <a:t>KOM:</a:t>
            </a:r>
            <a:r>
              <a:rPr lang="sv-SE" sz="1600" dirty="0"/>
              <a:t> Alla vet vad som händer, när och varför</a:t>
            </a:r>
          </a:p>
          <a:p>
            <a:pPr marL="342900" indent="-342900">
              <a:buFont typeface="Arial"/>
              <a:buChar char="•"/>
            </a:pPr>
            <a:r>
              <a:rPr lang="sv-SE" sz="1600" b="1" dirty="0"/>
              <a:t>SAM:</a:t>
            </a:r>
            <a:r>
              <a:rPr lang="sv-SE" sz="1600" dirty="0"/>
              <a:t> Underentreprenörer, beställare och konsulter jobbar mot samma mål</a:t>
            </a:r>
          </a:p>
          <a:p>
            <a:pPr marL="342900" indent="-342900">
              <a:buFont typeface="Arial"/>
              <a:buChar char="•"/>
            </a:pPr>
            <a:r>
              <a:rPr lang="sv-SE" sz="1600" b="1" dirty="0"/>
              <a:t>NOG:</a:t>
            </a:r>
            <a:r>
              <a:rPr lang="sv-SE" sz="1600" dirty="0"/>
              <a:t> Rätt gjort från början — minskar garantifel</a:t>
            </a:r>
          </a:p>
          <a:p>
            <a:pPr marL="342900" indent="-342900">
              <a:buFont typeface="Arial"/>
              <a:buChar char="•"/>
            </a:pPr>
            <a:r>
              <a:rPr lang="sv-SE" sz="1600" b="1" dirty="0"/>
              <a:t>INN:</a:t>
            </a:r>
            <a:r>
              <a:rPr lang="sv-SE" sz="1600" dirty="0"/>
              <a:t> Nya metoder som sparar tid eller höjer kvalitet</a:t>
            </a:r>
          </a:p>
          <a:p>
            <a:pPr marL="342900" indent="-342900">
              <a:buFont typeface="Arial"/>
              <a:buChar char="•"/>
            </a:pPr>
            <a:r>
              <a:rPr lang="sv-SE" sz="1600" b="1" dirty="0"/>
              <a:t>ABM:</a:t>
            </a:r>
            <a:r>
              <a:rPr lang="sv-SE" sz="1600" dirty="0"/>
              <a:t> Ingen ska skadas på arbetsplatsen</a:t>
            </a:r>
          </a:p>
        </p:txBody>
      </p:sp>
    </p:spTree>
    <p:extLst>
      <p:ext uri="{BB962C8B-B14F-4D97-AF65-F5344CB8AC3E}">
        <p14:creationId xmlns:p14="http://schemas.microsoft.com/office/powerpoint/2010/main" val="3357053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8C709D4-7E1C-BCA9-2620-558F9E1CB87F}"/>
              </a:ext>
            </a:extLst>
          </p:cNvPr>
          <p:cNvSpPr>
            <a:spLocks noGrp="1"/>
          </p:cNvSpPr>
          <p:nvPr>
            <p:ph type="title"/>
          </p:nvPr>
        </p:nvSpPr>
        <p:spPr/>
        <p:txBody>
          <a:bodyPr/>
          <a:lstStyle/>
          <a:p>
            <a:r>
              <a:rPr lang="sv-SE" sz="3200" b="1" dirty="0"/>
              <a:t>Tidsplan och konsekvenser</a:t>
            </a:r>
          </a:p>
        </p:txBody>
      </p:sp>
      <p:sp>
        <p:nvSpPr>
          <p:cNvPr id="3" name="Platshållare för innehåll 2">
            <a:extLst>
              <a:ext uri="{FF2B5EF4-FFF2-40B4-BE49-F238E27FC236}">
                <a16:creationId xmlns:a16="http://schemas.microsoft.com/office/drawing/2014/main" id="{96EED58C-FDDA-91ED-88FE-EF6743B4E6B9}"/>
              </a:ext>
            </a:extLst>
          </p:cNvPr>
          <p:cNvSpPr>
            <a:spLocks noGrp="1"/>
          </p:cNvSpPr>
          <p:nvPr>
            <p:ph idx="1"/>
          </p:nvPr>
        </p:nvSpPr>
        <p:spPr/>
        <p:txBody>
          <a:bodyPr/>
          <a:lstStyle/>
          <a:p>
            <a:pPr marL="342900" indent="-342900">
              <a:buFont typeface="Arial"/>
              <a:buChar char="•"/>
            </a:pPr>
            <a:r>
              <a:rPr lang="sv-SE" sz="1800" dirty="0"/>
              <a:t>Överskriden tid = extra kostnader, missnöjda kunder, förlorade intäkter</a:t>
            </a:r>
          </a:p>
          <a:p>
            <a:pPr marL="342900" indent="-342900">
              <a:buFont typeface="Arial"/>
              <a:buChar char="•"/>
            </a:pPr>
            <a:r>
              <a:rPr lang="sv-SE" sz="1800" dirty="0"/>
              <a:t>Varje månad över plan kostar — ibland mer än man tror</a:t>
            </a:r>
          </a:p>
          <a:p>
            <a:pPr marL="342900" indent="-342900">
              <a:buFont typeface="Arial"/>
              <a:buChar char="•"/>
            </a:pPr>
            <a:r>
              <a:rPr lang="sv-SE" sz="1800" dirty="0"/>
              <a:t>I verkligheten: tidplanen är det mest känsliga styrinstrumentet</a:t>
            </a:r>
          </a:p>
        </p:txBody>
      </p:sp>
    </p:spTree>
    <p:extLst>
      <p:ext uri="{BB962C8B-B14F-4D97-AF65-F5344CB8AC3E}">
        <p14:creationId xmlns:p14="http://schemas.microsoft.com/office/powerpoint/2010/main" val="2546755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1C66500-E8F2-BB68-5856-AF83CB0CF33A}"/>
              </a:ext>
            </a:extLst>
          </p:cNvPr>
          <p:cNvSpPr>
            <a:spLocks noGrp="1"/>
          </p:cNvSpPr>
          <p:nvPr>
            <p:ph type="title"/>
          </p:nvPr>
        </p:nvSpPr>
        <p:spPr/>
        <p:txBody>
          <a:bodyPr/>
          <a:lstStyle/>
          <a:p>
            <a:r>
              <a:rPr lang="sv-SE" sz="3200" b="1" dirty="0"/>
              <a:t>Kvalitets- och hållbarhetsbrister</a:t>
            </a:r>
          </a:p>
        </p:txBody>
      </p:sp>
      <p:sp>
        <p:nvSpPr>
          <p:cNvPr id="3" name="Platshållare för innehåll 2">
            <a:extLst>
              <a:ext uri="{FF2B5EF4-FFF2-40B4-BE49-F238E27FC236}">
                <a16:creationId xmlns:a16="http://schemas.microsoft.com/office/drawing/2014/main" id="{419C45CD-BBCC-E91C-276D-6F8B7D5B89AC}"/>
              </a:ext>
            </a:extLst>
          </p:cNvPr>
          <p:cNvSpPr>
            <a:spLocks noGrp="1"/>
          </p:cNvSpPr>
          <p:nvPr>
            <p:ph idx="1"/>
          </p:nvPr>
        </p:nvSpPr>
        <p:spPr/>
        <p:txBody>
          <a:bodyPr/>
          <a:lstStyle/>
          <a:p>
            <a:pPr marL="342900" indent="-342900">
              <a:buFont typeface="Arial"/>
              <a:buChar char="•"/>
            </a:pPr>
            <a:r>
              <a:rPr lang="sv-SE" sz="1800" dirty="0"/>
              <a:t>Att inte nå Q-krav = garantiåtgärder, reklamationer, missnöje</a:t>
            </a:r>
          </a:p>
          <a:p>
            <a:pPr marL="342900" indent="-342900">
              <a:buFont typeface="Arial"/>
              <a:buChar char="•"/>
            </a:pPr>
            <a:r>
              <a:rPr lang="sv-SE" sz="1800" dirty="0"/>
              <a:t>Att inte nå H-krav = certifieringar missas, högre driftskostnader</a:t>
            </a:r>
          </a:p>
          <a:p>
            <a:pPr marL="342900" indent="-342900">
              <a:buFont typeface="Arial"/>
              <a:buChar char="•"/>
            </a:pPr>
            <a:r>
              <a:rPr lang="sv-SE" sz="1800" dirty="0"/>
              <a:t>Förebyggande arbete under byggtid är billigare än att åtgärda efteråt</a:t>
            </a:r>
          </a:p>
        </p:txBody>
      </p:sp>
    </p:spTree>
    <p:extLst>
      <p:ext uri="{BB962C8B-B14F-4D97-AF65-F5344CB8AC3E}">
        <p14:creationId xmlns:p14="http://schemas.microsoft.com/office/powerpoint/2010/main" val="1197327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14515B8-73E1-C4AE-0927-3E89EE5AE510}"/>
              </a:ext>
            </a:extLst>
          </p:cNvPr>
          <p:cNvSpPr>
            <a:spLocks noGrp="1"/>
          </p:cNvSpPr>
          <p:nvPr>
            <p:ph type="title"/>
          </p:nvPr>
        </p:nvSpPr>
        <p:spPr/>
        <p:txBody>
          <a:bodyPr/>
          <a:lstStyle/>
          <a:p>
            <a:r>
              <a:rPr lang="sv-SE" sz="3200" b="1" dirty="0"/>
              <a:t>Garantibesiktning</a:t>
            </a:r>
          </a:p>
        </p:txBody>
      </p:sp>
      <p:sp>
        <p:nvSpPr>
          <p:cNvPr id="3" name="Platshållare för innehåll 2">
            <a:extLst>
              <a:ext uri="{FF2B5EF4-FFF2-40B4-BE49-F238E27FC236}">
                <a16:creationId xmlns:a16="http://schemas.microsoft.com/office/drawing/2014/main" id="{1F2EA93A-6B39-060F-8522-082EE59F4318}"/>
              </a:ext>
            </a:extLst>
          </p:cNvPr>
          <p:cNvSpPr>
            <a:spLocks noGrp="1"/>
          </p:cNvSpPr>
          <p:nvPr>
            <p:ph idx="1"/>
          </p:nvPr>
        </p:nvSpPr>
        <p:spPr/>
        <p:txBody>
          <a:bodyPr/>
          <a:lstStyle/>
          <a:p>
            <a:pPr marL="342900" indent="-342900">
              <a:buFont typeface="Arial"/>
              <a:buChar char="•"/>
            </a:pPr>
            <a:r>
              <a:rPr lang="sv-SE" sz="1800" dirty="0"/>
              <a:t>5 år efter färdigställande besiktigas byggnaden</a:t>
            </a:r>
          </a:p>
          <a:p>
            <a:pPr marL="342900" indent="-342900">
              <a:buFont typeface="Arial"/>
              <a:buChar char="•"/>
            </a:pPr>
            <a:r>
              <a:rPr lang="sv-SE" sz="1800" dirty="0"/>
              <a:t>Dolda fel dyker upp — kvaliteten på leverantörerna avgör hur många</a:t>
            </a:r>
          </a:p>
          <a:p>
            <a:pPr marL="342900" indent="-342900">
              <a:buFont typeface="Arial"/>
              <a:buChar char="•"/>
            </a:pPr>
            <a:r>
              <a:rPr lang="sv-SE" sz="1800" dirty="0"/>
              <a:t>I verkligheten: besiktningsanmärkningar kan kosta miljoner</a:t>
            </a:r>
          </a:p>
          <a:p>
            <a:pPr marL="342900" indent="-342900">
              <a:buFont typeface="Arial"/>
              <a:buChar char="•"/>
            </a:pPr>
            <a:endParaRPr lang="sv-SE" sz="1800" dirty="0"/>
          </a:p>
          <a:p>
            <a:pPr marL="342900" indent="-342900">
              <a:buFont typeface="Arial"/>
              <a:buChar char="•"/>
            </a:pPr>
            <a:r>
              <a:rPr lang="sv-SE" sz="1800" dirty="0"/>
              <a:t>Ett kort per:</a:t>
            </a:r>
          </a:p>
          <a:p>
            <a:pPr marL="800100" lvl="1" indent="-342900">
              <a:buFont typeface="Arial"/>
              <a:buChar char="•"/>
            </a:pPr>
            <a:r>
              <a:rPr lang="sv-SE" sz="1400" dirty="0"/>
              <a:t>Överskriden tid</a:t>
            </a:r>
          </a:p>
          <a:p>
            <a:pPr marL="800100" lvl="1" indent="-342900">
              <a:buFont typeface="Arial"/>
              <a:buChar char="•"/>
            </a:pPr>
            <a:r>
              <a:rPr lang="sv-SE" sz="1400" dirty="0"/>
              <a:t>Steg till att uppnå kvalitet</a:t>
            </a:r>
          </a:p>
          <a:p>
            <a:pPr marL="800100" lvl="1" indent="-342900">
              <a:buFont typeface="Arial"/>
              <a:buChar char="•"/>
            </a:pPr>
            <a:r>
              <a:rPr lang="sv-SE" sz="1400" dirty="0"/>
              <a:t>Steg till att uppnå hållbarhet</a:t>
            </a:r>
          </a:p>
          <a:p>
            <a:pPr marL="800100" lvl="1" indent="-342900">
              <a:buFont typeface="Arial"/>
              <a:buChar char="•"/>
            </a:pPr>
            <a:r>
              <a:rPr lang="sv-SE" sz="1400" dirty="0"/>
              <a:t>Leverantörer </a:t>
            </a:r>
            <a:r>
              <a:rPr lang="sv-SE" sz="1400"/>
              <a:t>på nivå 1 eller 2</a:t>
            </a:r>
            <a:endParaRPr lang="sv-SE" sz="1400" dirty="0"/>
          </a:p>
        </p:txBody>
      </p:sp>
    </p:spTree>
    <p:extLst>
      <p:ext uri="{BB962C8B-B14F-4D97-AF65-F5344CB8AC3E}">
        <p14:creationId xmlns:p14="http://schemas.microsoft.com/office/powerpoint/2010/main" val="2631418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E01C7E3-1A4A-DD9F-0B81-909B6173057A}"/>
              </a:ext>
            </a:extLst>
          </p:cNvPr>
          <p:cNvSpPr>
            <a:spLocks noGrp="1"/>
          </p:cNvSpPr>
          <p:nvPr>
            <p:ph type="title"/>
          </p:nvPr>
        </p:nvSpPr>
        <p:spPr/>
        <p:txBody>
          <a:bodyPr/>
          <a:lstStyle/>
          <a:p>
            <a:r>
              <a:rPr lang="sv-SE" sz="3200" b="1" dirty="0"/>
              <a:t>Att tänka på</a:t>
            </a:r>
          </a:p>
        </p:txBody>
      </p:sp>
      <p:sp>
        <p:nvSpPr>
          <p:cNvPr id="3" name="Platshållare för innehåll 2">
            <a:extLst>
              <a:ext uri="{FF2B5EF4-FFF2-40B4-BE49-F238E27FC236}">
                <a16:creationId xmlns:a16="http://schemas.microsoft.com/office/drawing/2014/main" id="{E93A91E7-2CE1-F5E3-F72F-758581019737}"/>
              </a:ext>
            </a:extLst>
          </p:cNvPr>
          <p:cNvSpPr>
            <a:spLocks noGrp="1"/>
          </p:cNvSpPr>
          <p:nvPr>
            <p:ph idx="1"/>
          </p:nvPr>
        </p:nvSpPr>
        <p:spPr/>
        <p:txBody>
          <a:bodyPr/>
          <a:lstStyle/>
          <a:p>
            <a:pPr marL="342900" indent="-342900">
              <a:buFont typeface="Arial"/>
              <a:buChar char="•"/>
            </a:pPr>
            <a:r>
              <a:rPr lang="sv-SE" sz="1800" dirty="0"/>
              <a:t>Ambitionsnivån är en riskavvägning — inte alltid värt att gå för Bonus</a:t>
            </a:r>
          </a:p>
          <a:p>
            <a:pPr marL="342900" indent="-342900">
              <a:buFont typeface="Arial"/>
              <a:buChar char="•"/>
            </a:pPr>
            <a:r>
              <a:rPr lang="sv-SE" sz="1800" dirty="0"/>
              <a:t>Kompetenskort kan bara spelas en gång — välj rätt tillfälle</a:t>
            </a:r>
          </a:p>
          <a:p>
            <a:pPr marL="342900" indent="-342900">
              <a:buFont typeface="Arial"/>
              <a:buChar char="•"/>
            </a:pPr>
            <a:r>
              <a:rPr lang="sv-SE" sz="1800" dirty="0"/>
              <a:t>T (tid) över 12 månader ger konsekvenskort — håll koll på tidplanen</a:t>
            </a:r>
          </a:p>
        </p:txBody>
      </p:sp>
    </p:spTree>
    <p:extLst>
      <p:ext uri="{BB962C8B-B14F-4D97-AF65-F5344CB8AC3E}">
        <p14:creationId xmlns:p14="http://schemas.microsoft.com/office/powerpoint/2010/main" val="3089875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B1AECC4-5CBE-8301-C7C9-AB22BD9D8AE0}"/>
              </a:ext>
            </a:extLst>
          </p:cNvPr>
          <p:cNvSpPr>
            <a:spLocks noGrp="1"/>
          </p:cNvSpPr>
          <p:nvPr>
            <p:ph type="title"/>
          </p:nvPr>
        </p:nvSpPr>
        <p:spPr/>
        <p:txBody>
          <a:bodyPr/>
          <a:lstStyle/>
          <a:p>
            <a:r>
              <a:rPr lang="sv-SE" sz="3200" b="1" dirty="0"/>
              <a:t>Från projekt till fastighet</a:t>
            </a:r>
          </a:p>
        </p:txBody>
      </p:sp>
      <p:sp>
        <p:nvSpPr>
          <p:cNvPr id="3" name="Platshållare för innehåll 2">
            <a:extLst>
              <a:ext uri="{FF2B5EF4-FFF2-40B4-BE49-F238E27FC236}">
                <a16:creationId xmlns:a16="http://schemas.microsoft.com/office/drawing/2014/main" id="{629DCB6C-613B-2583-563D-FBA77D0E7D68}"/>
              </a:ext>
            </a:extLst>
          </p:cNvPr>
          <p:cNvSpPr>
            <a:spLocks noGrp="1"/>
          </p:cNvSpPr>
          <p:nvPr>
            <p:ph idx="1"/>
          </p:nvPr>
        </p:nvSpPr>
        <p:spPr/>
        <p:txBody>
          <a:bodyPr/>
          <a:lstStyle/>
          <a:p>
            <a:pPr marL="342900" indent="-342900">
              <a:buFont typeface="Arial"/>
              <a:buChar char="•"/>
            </a:pPr>
            <a:r>
              <a:rPr lang="sv-SE" sz="1800" dirty="0"/>
              <a:t>Byggnaden är klar — nu börjar förvaltningen</a:t>
            </a:r>
          </a:p>
          <a:p>
            <a:pPr marL="342900" indent="-342900">
              <a:buFont typeface="Arial"/>
              <a:buChar char="•"/>
            </a:pPr>
            <a:r>
              <a:rPr lang="sv-SE" sz="1800" dirty="0"/>
              <a:t>Drift, underhåll, hyresgäster, energi</a:t>
            </a:r>
          </a:p>
          <a:p>
            <a:pPr marL="342900" indent="-342900">
              <a:buFont typeface="Arial"/>
              <a:buChar char="•"/>
            </a:pPr>
            <a:r>
              <a:rPr lang="sv-SE" sz="1800" dirty="0"/>
              <a:t>I verkligheten: förvaltningskostnaden över 50 år överstiger byggkostnaden</a:t>
            </a:r>
          </a:p>
        </p:txBody>
      </p:sp>
    </p:spTree>
    <p:extLst>
      <p:ext uri="{BB962C8B-B14F-4D97-AF65-F5344CB8AC3E}">
        <p14:creationId xmlns:p14="http://schemas.microsoft.com/office/powerpoint/2010/main" val="2796446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2C9C9B-9A3F-6357-C5F3-9919B8C8A60C}"/>
              </a:ext>
            </a:extLst>
          </p:cNvPr>
          <p:cNvSpPr>
            <a:spLocks noGrp="1"/>
          </p:cNvSpPr>
          <p:nvPr>
            <p:ph type="title"/>
          </p:nvPr>
        </p:nvSpPr>
        <p:spPr/>
        <p:txBody>
          <a:bodyPr/>
          <a:lstStyle/>
          <a:p>
            <a:r>
              <a:rPr lang="sv-SE" sz="3200" b="1" dirty="0"/>
              <a:t>Personal i förvaltning</a:t>
            </a:r>
          </a:p>
        </p:txBody>
      </p:sp>
      <p:sp>
        <p:nvSpPr>
          <p:cNvPr id="3" name="Platshållare för innehåll 2">
            <a:extLst>
              <a:ext uri="{FF2B5EF4-FFF2-40B4-BE49-F238E27FC236}">
                <a16:creationId xmlns:a16="http://schemas.microsoft.com/office/drawing/2014/main" id="{FA200F05-EAC1-7F57-681B-78A750899DD3}"/>
              </a:ext>
            </a:extLst>
          </p:cNvPr>
          <p:cNvSpPr>
            <a:spLocks noGrp="1"/>
          </p:cNvSpPr>
          <p:nvPr>
            <p:ph idx="1"/>
          </p:nvPr>
        </p:nvSpPr>
        <p:spPr/>
        <p:txBody>
          <a:bodyPr/>
          <a:lstStyle/>
          <a:p>
            <a:pPr marL="342900" indent="-342900">
              <a:buFont typeface="Arial"/>
              <a:buChar char="•"/>
            </a:pPr>
            <a:r>
              <a:rPr lang="sv-SE" sz="1800" b="1" dirty="0"/>
              <a:t>Fastighetschef (FC)</a:t>
            </a:r>
            <a:r>
              <a:rPr lang="sv-SE" sz="1800" dirty="0"/>
              <a:t> — strategiska beslut, budget, hyresgästrelationer</a:t>
            </a:r>
          </a:p>
          <a:p>
            <a:pPr marL="342900" indent="-342900">
              <a:buFont typeface="Arial"/>
              <a:buChar char="•"/>
            </a:pPr>
            <a:r>
              <a:rPr lang="sv-SE" sz="1800" b="1" dirty="0"/>
              <a:t>Fastighetsskötare (FS)</a:t>
            </a:r>
            <a:r>
              <a:rPr lang="sv-SE" sz="1800" dirty="0"/>
              <a:t> — drift, tillsyn, felanmälan</a:t>
            </a:r>
          </a:p>
          <a:p>
            <a:pPr marL="342900" indent="-342900">
              <a:buFont typeface="Arial"/>
              <a:buChar char="•"/>
            </a:pPr>
            <a:r>
              <a:rPr lang="sv-SE" sz="1800" dirty="0"/>
              <a:t>Rätt personal = lägre driftskostnader och nöjdare hyresgäster</a:t>
            </a:r>
          </a:p>
        </p:txBody>
      </p:sp>
    </p:spTree>
    <p:extLst>
      <p:ext uri="{BB962C8B-B14F-4D97-AF65-F5344CB8AC3E}">
        <p14:creationId xmlns:p14="http://schemas.microsoft.com/office/powerpoint/2010/main" val="3406527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70C033-962F-9124-C692-9840BBD36D94}"/>
              </a:ext>
            </a:extLst>
          </p:cNvPr>
          <p:cNvSpPr>
            <a:spLocks noGrp="1"/>
          </p:cNvSpPr>
          <p:nvPr>
            <p:ph type="title"/>
          </p:nvPr>
        </p:nvSpPr>
        <p:spPr/>
        <p:txBody>
          <a:bodyPr/>
          <a:lstStyle/>
          <a:p>
            <a:r>
              <a:rPr lang="sv-SE" sz="3200" b="1" dirty="0"/>
              <a:t>Energi och hållbarhet</a:t>
            </a:r>
          </a:p>
        </p:txBody>
      </p:sp>
      <p:sp>
        <p:nvSpPr>
          <p:cNvPr id="3" name="Platshållare för innehåll 2">
            <a:extLst>
              <a:ext uri="{FF2B5EF4-FFF2-40B4-BE49-F238E27FC236}">
                <a16:creationId xmlns:a16="http://schemas.microsoft.com/office/drawing/2014/main" id="{185D2912-B583-7E52-FE95-3B549DDF18AB}"/>
              </a:ext>
            </a:extLst>
          </p:cNvPr>
          <p:cNvSpPr>
            <a:spLocks noGrp="1"/>
          </p:cNvSpPr>
          <p:nvPr>
            <p:ph idx="1"/>
          </p:nvPr>
        </p:nvSpPr>
        <p:spPr/>
        <p:txBody>
          <a:bodyPr/>
          <a:lstStyle/>
          <a:p>
            <a:pPr marL="342900" indent="-342900">
              <a:buFont typeface="Arial"/>
              <a:buChar char="•"/>
            </a:pPr>
            <a:r>
              <a:rPr lang="sv-SE" sz="1800" dirty="0"/>
              <a:t>Energiklasser F till A — lägre energiklass = högre driftskostnad</a:t>
            </a:r>
          </a:p>
          <a:p>
            <a:pPr marL="342900" indent="-342900">
              <a:buFont typeface="Arial"/>
              <a:buChar char="•"/>
            </a:pPr>
            <a:r>
              <a:rPr lang="sv-SE" sz="1800" dirty="0"/>
              <a:t>Uppgradering kostar men höjer fastighetsvärdet</a:t>
            </a:r>
          </a:p>
          <a:p>
            <a:pPr marL="342900" indent="-342900">
              <a:buFont typeface="Arial"/>
              <a:buChar char="•"/>
            </a:pPr>
            <a:r>
              <a:rPr lang="sv-SE" sz="1800" dirty="0"/>
              <a:t>I verkligheten: energikrav skärps konstant — investera tidigt</a:t>
            </a:r>
          </a:p>
        </p:txBody>
      </p:sp>
    </p:spTree>
    <p:extLst>
      <p:ext uri="{BB962C8B-B14F-4D97-AF65-F5344CB8AC3E}">
        <p14:creationId xmlns:p14="http://schemas.microsoft.com/office/powerpoint/2010/main" val="1671343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69829EF-15BD-F9EE-F6E3-995558FE5C5F}"/>
              </a:ext>
            </a:extLst>
          </p:cNvPr>
          <p:cNvSpPr>
            <a:spLocks noGrp="1"/>
          </p:cNvSpPr>
          <p:nvPr>
            <p:ph type="title"/>
          </p:nvPr>
        </p:nvSpPr>
        <p:spPr/>
        <p:txBody>
          <a:bodyPr/>
          <a:lstStyle/>
          <a:p>
            <a:r>
              <a:rPr lang="sv-SE" sz="3200" b="1" dirty="0"/>
              <a:t>Marknaden — yield och värdering</a:t>
            </a:r>
          </a:p>
        </p:txBody>
      </p:sp>
      <p:sp>
        <p:nvSpPr>
          <p:cNvPr id="3" name="Platshållare för innehåll 2">
            <a:extLst>
              <a:ext uri="{FF2B5EF4-FFF2-40B4-BE49-F238E27FC236}">
                <a16:creationId xmlns:a16="http://schemas.microsoft.com/office/drawing/2014/main" id="{643D8B6E-0554-FA89-D49E-82A017FEFE31}"/>
              </a:ext>
            </a:extLst>
          </p:cNvPr>
          <p:cNvSpPr>
            <a:spLocks noGrp="1"/>
          </p:cNvSpPr>
          <p:nvPr>
            <p:ph idx="1"/>
          </p:nvPr>
        </p:nvSpPr>
        <p:spPr/>
        <p:txBody>
          <a:bodyPr/>
          <a:lstStyle/>
          <a:p>
            <a:pPr marL="342900" indent="-342900">
              <a:buFont typeface="Arial"/>
              <a:buChar char="•"/>
            </a:pPr>
            <a:r>
              <a:rPr lang="sv-SE" sz="1800" dirty="0"/>
              <a:t>Yield = driftsnetto / marknadsvärde — lägre yield = högre värde</a:t>
            </a:r>
          </a:p>
          <a:p>
            <a:pPr marL="342900" indent="-342900">
              <a:buFont typeface="Arial"/>
              <a:buChar char="•"/>
            </a:pPr>
            <a:r>
              <a:rPr lang="sv-SE" sz="1800" dirty="0"/>
              <a:t>Köpa och sälja fastigheter — tajming och läge avgör</a:t>
            </a:r>
          </a:p>
          <a:p>
            <a:pPr marL="342900" indent="-342900">
              <a:buFont typeface="Arial"/>
              <a:buChar char="•"/>
            </a:pPr>
            <a:r>
              <a:rPr lang="sv-SE" sz="1800" dirty="0"/>
              <a:t>Due Diligence (DD) — vad kollar man innan man köper?</a:t>
            </a:r>
          </a:p>
        </p:txBody>
      </p:sp>
    </p:spTree>
    <p:extLst>
      <p:ext uri="{BB962C8B-B14F-4D97-AF65-F5344CB8AC3E}">
        <p14:creationId xmlns:p14="http://schemas.microsoft.com/office/powerpoint/2010/main" val="2239729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70ABC3D-C7D7-C4E1-E078-062026023C60}"/>
              </a:ext>
            </a:extLst>
          </p:cNvPr>
          <p:cNvSpPr>
            <a:spLocks noGrp="1"/>
          </p:cNvSpPr>
          <p:nvPr>
            <p:ph type="title"/>
          </p:nvPr>
        </p:nvSpPr>
        <p:spPr/>
        <p:txBody>
          <a:bodyPr/>
          <a:lstStyle/>
          <a:p>
            <a:r>
              <a:rPr lang="sv-SE" sz="3200" b="1" dirty="0"/>
              <a:t>Världshändelser</a:t>
            </a:r>
          </a:p>
        </p:txBody>
      </p:sp>
      <p:sp>
        <p:nvSpPr>
          <p:cNvPr id="3" name="Platshållare för innehåll 2">
            <a:extLst>
              <a:ext uri="{FF2B5EF4-FFF2-40B4-BE49-F238E27FC236}">
                <a16:creationId xmlns:a16="http://schemas.microsoft.com/office/drawing/2014/main" id="{6C513CD3-3743-4CE5-F236-F38C9EF7DC53}"/>
              </a:ext>
            </a:extLst>
          </p:cNvPr>
          <p:cNvSpPr>
            <a:spLocks noGrp="1"/>
          </p:cNvSpPr>
          <p:nvPr>
            <p:ph idx="1"/>
          </p:nvPr>
        </p:nvSpPr>
        <p:spPr/>
        <p:txBody>
          <a:bodyPr/>
          <a:lstStyle/>
          <a:p>
            <a:pPr marL="342900" indent="-342900">
              <a:buFont typeface="Arial"/>
              <a:buChar char="•"/>
            </a:pPr>
            <a:r>
              <a:rPr lang="sv-SE" sz="1800" dirty="0"/>
              <a:t>Ränteändringar, regleringar, konjunktur</a:t>
            </a:r>
          </a:p>
          <a:p>
            <a:pPr marL="342900" indent="-342900">
              <a:buFont typeface="Arial"/>
              <a:buChar char="•"/>
            </a:pPr>
            <a:r>
              <a:rPr lang="sv-SE" sz="1800" dirty="0"/>
              <a:t>Påverkar fastighetsvärden och hyresmarknad</a:t>
            </a:r>
          </a:p>
          <a:p>
            <a:pPr marL="342900" indent="-342900">
              <a:buFont typeface="Arial"/>
              <a:buChar char="•"/>
            </a:pPr>
            <a:r>
              <a:rPr lang="sv-SE" sz="1800" dirty="0"/>
              <a:t>I verkligheten: makroekonomi är den risk man inte kan kontrollera</a:t>
            </a:r>
          </a:p>
        </p:txBody>
      </p:sp>
    </p:spTree>
    <p:extLst>
      <p:ext uri="{BB962C8B-B14F-4D97-AF65-F5344CB8AC3E}">
        <p14:creationId xmlns:p14="http://schemas.microsoft.com/office/powerpoint/2010/main" val="987110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A42527E-A99E-497A-4EAF-4242BA875E00}"/>
              </a:ext>
            </a:extLst>
          </p:cNvPr>
          <p:cNvSpPr>
            <a:spLocks noGrp="1"/>
          </p:cNvSpPr>
          <p:nvPr>
            <p:ph type="title"/>
          </p:nvPr>
        </p:nvSpPr>
        <p:spPr/>
        <p:txBody>
          <a:bodyPr/>
          <a:lstStyle/>
          <a:p>
            <a:r>
              <a:rPr lang="sv-SE" sz="3200" b="1" dirty="0"/>
              <a:t>Vad gör en vinnare?</a:t>
            </a:r>
          </a:p>
        </p:txBody>
      </p:sp>
      <p:sp>
        <p:nvSpPr>
          <p:cNvPr id="3" name="Platshållare för innehåll 2">
            <a:extLst>
              <a:ext uri="{FF2B5EF4-FFF2-40B4-BE49-F238E27FC236}">
                <a16:creationId xmlns:a16="http://schemas.microsoft.com/office/drawing/2014/main" id="{066C1662-560C-F0DF-99E0-EF017DF30C09}"/>
              </a:ext>
            </a:extLst>
          </p:cNvPr>
          <p:cNvSpPr>
            <a:spLocks noGrp="1"/>
          </p:cNvSpPr>
          <p:nvPr>
            <p:ph idx="1"/>
          </p:nvPr>
        </p:nvSpPr>
        <p:spPr/>
        <p:txBody>
          <a:bodyPr/>
          <a:lstStyle/>
          <a:p>
            <a:pPr marL="342900" indent="-342900">
              <a:buFont typeface="Arial"/>
              <a:buChar char="•"/>
            </a:pPr>
            <a:r>
              <a:rPr lang="sv-SE" sz="1800" dirty="0"/>
              <a:t>Balans mellan fastighetsvärde, eget kapital och täckningsgrad</a:t>
            </a:r>
          </a:p>
          <a:p>
            <a:pPr marL="342900" indent="-342900">
              <a:buFont typeface="Arial"/>
              <a:buChar char="•"/>
            </a:pPr>
            <a:r>
              <a:rPr lang="sv-SE" sz="1800" dirty="0"/>
              <a:t>Inte bara "mest pengar" — utan bäst förvaltad portfölj</a:t>
            </a:r>
          </a:p>
          <a:p>
            <a:pPr marL="342900" indent="-342900">
              <a:buFont typeface="Arial"/>
              <a:buChar char="•"/>
            </a:pPr>
            <a:r>
              <a:rPr lang="sv-SE" sz="1800" dirty="0"/>
              <a:t>Den som byggt kvalitet från start har fördelar i förvaltningen</a:t>
            </a:r>
          </a:p>
        </p:txBody>
      </p:sp>
    </p:spTree>
    <p:extLst>
      <p:ext uri="{BB962C8B-B14F-4D97-AF65-F5344CB8AC3E}">
        <p14:creationId xmlns:p14="http://schemas.microsoft.com/office/powerpoint/2010/main" val="32178799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9A83725-54F6-BDAA-EEE5-844533E78C40}"/>
              </a:ext>
            </a:extLst>
          </p:cNvPr>
          <p:cNvSpPr>
            <a:spLocks noGrp="1"/>
          </p:cNvSpPr>
          <p:nvPr>
            <p:ph type="title"/>
          </p:nvPr>
        </p:nvSpPr>
        <p:spPr/>
        <p:txBody>
          <a:bodyPr/>
          <a:lstStyle/>
          <a:p>
            <a:r>
              <a:rPr lang="sv-SE" sz="3200" b="1" dirty="0"/>
              <a:t>Fas 4 — Översikt</a:t>
            </a:r>
          </a:p>
        </p:txBody>
      </p:sp>
      <p:sp>
        <p:nvSpPr>
          <p:cNvPr id="3" name="Platshållare för innehåll 2">
            <a:extLst>
              <a:ext uri="{FF2B5EF4-FFF2-40B4-BE49-F238E27FC236}">
                <a16:creationId xmlns:a16="http://schemas.microsoft.com/office/drawing/2014/main" id="{A35BD792-C2EC-B8CE-14BC-CA295AA3724E}"/>
              </a:ext>
            </a:extLst>
          </p:cNvPr>
          <p:cNvSpPr>
            <a:spLocks noGrp="1"/>
          </p:cNvSpPr>
          <p:nvPr>
            <p:ph idx="1"/>
          </p:nvPr>
        </p:nvSpPr>
        <p:spPr/>
        <p:txBody>
          <a:bodyPr/>
          <a:lstStyle/>
          <a:p>
            <a:pPr marL="342900" indent="-342900">
              <a:buFont typeface="Arial"/>
              <a:buChar char="•"/>
            </a:pPr>
            <a:r>
              <a:rPr lang="sv-SE" sz="1800" dirty="0"/>
              <a:t>4 kvartal med personal, marknad, energi och händelser</a:t>
            </a:r>
          </a:p>
          <a:p>
            <a:pPr marL="342900" indent="-342900">
              <a:buFont typeface="Arial"/>
              <a:buChar char="•"/>
            </a:pPr>
            <a:r>
              <a:rPr lang="sv-SE" sz="1800" dirty="0"/>
              <a:t>Varje kvartal: anställ personal → köp/sälj fastigheter → energiuppgraderingar → världshändelser</a:t>
            </a:r>
          </a:p>
          <a:p>
            <a:pPr marL="342900" indent="-342900">
              <a:buFont typeface="Arial"/>
              <a:buChar char="•"/>
            </a:pPr>
            <a:r>
              <a:rPr lang="sv-SE" sz="1800" dirty="0"/>
              <a:t>Poängen räknas efter sista kvartalet</a:t>
            </a:r>
          </a:p>
        </p:txBody>
      </p:sp>
    </p:spTree>
    <p:extLst>
      <p:ext uri="{BB962C8B-B14F-4D97-AF65-F5344CB8AC3E}">
        <p14:creationId xmlns:p14="http://schemas.microsoft.com/office/powerpoint/2010/main" val="958054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328E8E8-0EB2-9C4C-0F36-242C2419A98A}"/>
              </a:ext>
            </a:extLst>
          </p:cNvPr>
          <p:cNvSpPr>
            <a:spLocks noGrp="1"/>
          </p:cNvSpPr>
          <p:nvPr>
            <p:ph type="title"/>
          </p:nvPr>
        </p:nvSpPr>
        <p:spPr/>
        <p:txBody>
          <a:bodyPr/>
          <a:lstStyle/>
          <a:p>
            <a:r>
              <a:rPr lang="sv-SE" sz="3200" b="1" dirty="0"/>
              <a:t>Förkortningar att kunna</a:t>
            </a:r>
          </a:p>
        </p:txBody>
      </p:sp>
      <p:sp>
        <p:nvSpPr>
          <p:cNvPr id="3" name="Platshållare för innehåll 2">
            <a:extLst>
              <a:ext uri="{FF2B5EF4-FFF2-40B4-BE49-F238E27FC236}">
                <a16:creationId xmlns:a16="http://schemas.microsoft.com/office/drawing/2014/main" id="{13330F4A-D274-A2E6-7602-D58A5D7E122E}"/>
              </a:ext>
            </a:extLst>
          </p:cNvPr>
          <p:cNvSpPr>
            <a:spLocks noGrp="1"/>
          </p:cNvSpPr>
          <p:nvPr>
            <p:ph idx="1"/>
          </p:nvPr>
        </p:nvSpPr>
        <p:spPr/>
        <p:txBody>
          <a:bodyPr/>
          <a:lstStyle/>
          <a:p>
            <a:pPr marL="342900" indent="-342900">
              <a:buFont typeface="Arial"/>
              <a:buChar char="•"/>
            </a:pPr>
            <a:r>
              <a:rPr lang="sv-SE" sz="1800" b="1" dirty="0"/>
              <a:t>FC</a:t>
            </a:r>
            <a:r>
              <a:rPr lang="sv-SE" sz="1800" dirty="0"/>
              <a:t> = Fastighetschef</a:t>
            </a:r>
          </a:p>
          <a:p>
            <a:pPr marL="342900" indent="-342900">
              <a:buFont typeface="Arial"/>
              <a:buChar char="•"/>
            </a:pPr>
            <a:r>
              <a:rPr lang="sv-SE" sz="1800" b="1" dirty="0"/>
              <a:t>FS</a:t>
            </a:r>
            <a:r>
              <a:rPr lang="sv-SE" sz="1800" dirty="0"/>
              <a:t> = Fastighetsskötare</a:t>
            </a:r>
          </a:p>
          <a:p>
            <a:pPr marL="342900" indent="-342900">
              <a:buFont typeface="Arial"/>
              <a:buChar char="•"/>
            </a:pPr>
            <a:r>
              <a:rPr lang="sv-SE" sz="1800" b="1" dirty="0"/>
              <a:t>FV</a:t>
            </a:r>
            <a:r>
              <a:rPr lang="sv-SE" sz="1800" dirty="0"/>
              <a:t> = Fastighetsvärde</a:t>
            </a:r>
          </a:p>
          <a:p>
            <a:pPr marL="342900" indent="-342900">
              <a:buFont typeface="Arial"/>
              <a:buChar char="•"/>
            </a:pPr>
            <a:r>
              <a:rPr lang="sv-SE" sz="1800" b="1" dirty="0"/>
              <a:t>DD</a:t>
            </a:r>
            <a:r>
              <a:rPr lang="sv-SE" sz="1800" dirty="0"/>
              <a:t> = Due Diligence</a:t>
            </a:r>
          </a:p>
          <a:p>
            <a:pPr marL="342900" indent="-342900">
              <a:buFont typeface="Arial"/>
              <a:buChar char="•"/>
            </a:pPr>
            <a:r>
              <a:rPr lang="sv-SE" sz="1800" b="1" dirty="0"/>
              <a:t>TG</a:t>
            </a:r>
            <a:r>
              <a:rPr lang="sv-SE" sz="1800" dirty="0"/>
              <a:t> = Täckningsgrad (budget kvar / ursprunglig budget)</a:t>
            </a:r>
          </a:p>
        </p:txBody>
      </p:sp>
    </p:spTree>
    <p:extLst>
      <p:ext uri="{BB962C8B-B14F-4D97-AF65-F5344CB8AC3E}">
        <p14:creationId xmlns:p14="http://schemas.microsoft.com/office/powerpoint/2010/main" val="32254292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85E06BE-F01C-E62A-12A0-BBB9E8F66E84}"/>
              </a:ext>
            </a:extLst>
          </p:cNvPr>
          <p:cNvSpPr>
            <a:spLocks noGrp="1"/>
          </p:cNvSpPr>
          <p:nvPr>
            <p:ph type="title"/>
          </p:nvPr>
        </p:nvSpPr>
        <p:spPr/>
        <p:txBody>
          <a:bodyPr/>
          <a:lstStyle/>
          <a:p>
            <a:r>
              <a:rPr lang="sv-SE" sz="3200" b="1" dirty="0"/>
              <a:t>Att tänka på</a:t>
            </a:r>
          </a:p>
        </p:txBody>
      </p:sp>
      <p:sp>
        <p:nvSpPr>
          <p:cNvPr id="3" name="Platshållare för innehåll 2">
            <a:extLst>
              <a:ext uri="{FF2B5EF4-FFF2-40B4-BE49-F238E27FC236}">
                <a16:creationId xmlns:a16="http://schemas.microsoft.com/office/drawing/2014/main" id="{3D7BD300-CAF7-B009-76DA-4ADD34E8BAAF}"/>
              </a:ext>
            </a:extLst>
          </p:cNvPr>
          <p:cNvSpPr>
            <a:spLocks noGrp="1"/>
          </p:cNvSpPr>
          <p:nvPr>
            <p:ph idx="1"/>
          </p:nvPr>
        </p:nvSpPr>
        <p:spPr/>
        <p:txBody>
          <a:bodyPr/>
          <a:lstStyle/>
          <a:p>
            <a:pPr marL="342900" indent="-342900">
              <a:buFont typeface="Arial"/>
              <a:buChar char="•"/>
            </a:pPr>
            <a:r>
              <a:rPr lang="sv-SE" sz="1800" dirty="0"/>
              <a:t>Energiuppgradering kostar nu men höjer värdet</a:t>
            </a:r>
          </a:p>
          <a:p>
            <a:pPr marL="342900" indent="-342900">
              <a:buFont typeface="Arial"/>
              <a:buChar char="•"/>
            </a:pPr>
            <a:r>
              <a:rPr lang="sv-SE" sz="1800" dirty="0"/>
              <a:t>Fler fastigheter kräver mer personal — men ger mer intäkt</a:t>
            </a:r>
          </a:p>
          <a:p>
            <a:pPr marL="342900" indent="-342900">
              <a:buFont typeface="Arial"/>
              <a:buChar char="•"/>
            </a:pPr>
            <a:r>
              <a:rPr lang="sv-SE" sz="1800" dirty="0"/>
              <a:t>Världshändelser kan vända allt — ha marginaler</a:t>
            </a:r>
          </a:p>
        </p:txBody>
      </p:sp>
    </p:spTree>
    <p:extLst>
      <p:ext uri="{BB962C8B-B14F-4D97-AF65-F5344CB8AC3E}">
        <p14:creationId xmlns:p14="http://schemas.microsoft.com/office/powerpoint/2010/main" val="1103112816"/>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8B6D3C-4688-41C7-A328-09E8758E0128}">
  <we:reference id="wa200010001" version="1.0.0.1" store="sv-SE" storeType="OMEX"/>
  <we:alternateReferences>
    <we:reference id="WA200010001" version="1.0.0.1" store="WA200010001" storeType="OMEX"/>
  </we:alternateReferences>
  <we:properties>
    <we:property name="claude.fileId" value="&quot;041a2e9a-6e9e-4616-b225-e0bfd56dc84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225</TotalTime>
  <Words>2010</Words>
  <Application>Microsoft Office PowerPoint</Application>
  <PresentationFormat>Bredbild</PresentationFormat>
  <Paragraphs>226</Paragraphs>
  <Slides>45</Slides>
  <Notes>0</Notes>
  <HiddenSlides>0</HiddenSlides>
  <MMClips>0</MMClips>
  <ScaleCrop>false</ScaleCrop>
  <HeadingPairs>
    <vt:vector size="6" baseType="variant">
      <vt:variant>
        <vt:lpstr>Använt teckensnitt</vt:lpstr>
      </vt:variant>
      <vt:variant>
        <vt:i4>3</vt:i4>
      </vt:variant>
      <vt:variant>
        <vt:lpstr>Tema</vt:lpstr>
      </vt:variant>
      <vt:variant>
        <vt:i4>2</vt:i4>
      </vt:variant>
      <vt:variant>
        <vt:lpstr>Bildrubriker</vt:lpstr>
      </vt:variant>
      <vt:variant>
        <vt:i4>45</vt:i4>
      </vt:variant>
    </vt:vector>
  </HeadingPairs>
  <TitlesOfParts>
    <vt:vector size="50" baseType="lpstr">
      <vt:lpstr>Aptos</vt:lpstr>
      <vt:lpstr>Aptos Display</vt:lpstr>
      <vt:lpstr>Arial</vt:lpstr>
      <vt:lpstr>Office-tema</vt:lpstr>
      <vt:lpstr>Office-tema</vt:lpstr>
      <vt:lpstr>PMOPOLY</vt:lpstr>
      <vt:lpstr>Välkommen</vt:lpstr>
      <vt:lpstr>Dagens upplägg</vt:lpstr>
      <vt:lpstr>Hur spelar man?</vt:lpstr>
      <vt:lpstr>Hur vinner man?</vt:lpstr>
      <vt:lpstr>Spelplan 1</vt:lpstr>
      <vt:lpstr>Begrepp</vt:lpstr>
      <vt:lpstr>Ekonomibegrepp</vt:lpstr>
      <vt:lpstr>Begrepp</vt:lpstr>
      <vt:lpstr>Ekonomi</vt:lpstr>
      <vt:lpstr>Kvalitet och Hållbarhet</vt:lpstr>
      <vt:lpstr>Let the game begin!</vt:lpstr>
      <vt:lpstr>Välj en Projektchef (PC)</vt:lpstr>
      <vt:lpstr>Välj ert första projekt</vt:lpstr>
      <vt:lpstr>Börja röra er runt spelplanen</vt:lpstr>
      <vt:lpstr>Nämndprocessen, från verkligheten</vt:lpstr>
      <vt:lpstr>Efter nämndprocessen</vt:lpstr>
      <vt:lpstr>Att planera ett byggprojekt</vt:lpstr>
      <vt:lpstr>Vad händer om vi inte når målen?</vt:lpstr>
      <vt:lpstr>Organisationen runt projektet</vt:lpstr>
      <vt:lpstr>Leverantörer</vt:lpstr>
      <vt:lpstr>Att välja organisation och leverantörer</vt:lpstr>
      <vt:lpstr>Företagskultur</vt:lpstr>
      <vt:lpstr>Erfarenhet — den dolda resursen</vt:lpstr>
      <vt:lpstr>Spelplan 2</vt:lpstr>
      <vt:lpstr>Arbetschefen (AC)</vt:lpstr>
      <vt:lpstr>Fas 2 — Översikt</vt:lpstr>
      <vt:lpstr>Förkortningar att kunna</vt:lpstr>
      <vt:lpstr>Att tänka på</vt:lpstr>
      <vt:lpstr>Genomförandefasen</vt:lpstr>
      <vt:lpstr>Att hantera risker under byggtid</vt:lpstr>
      <vt:lpstr>Kompetens i praktiken</vt:lpstr>
      <vt:lpstr>Tidsplan och konsekvenser</vt:lpstr>
      <vt:lpstr>Kvalitets- och hållbarhetsbrister</vt:lpstr>
      <vt:lpstr>Garantibesiktning</vt:lpstr>
      <vt:lpstr>Att tänka på</vt:lpstr>
      <vt:lpstr>Från projekt till fastighet</vt:lpstr>
      <vt:lpstr>Personal i förvaltning</vt:lpstr>
      <vt:lpstr>Energi och hållbarhet</vt:lpstr>
      <vt:lpstr>Marknaden — yield och värdering</vt:lpstr>
      <vt:lpstr>Världshändelser</vt:lpstr>
      <vt:lpstr>Vad gör en vinnare?</vt:lpstr>
      <vt:lpstr>Fas 4 — Översikt</vt:lpstr>
      <vt:lpstr>Förkortningar att kunna</vt:lpstr>
      <vt:lpstr>Att tänka på</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Niklas Svidén</dc:creator>
  <cp:lastModifiedBy>Niklas Svidén</cp:lastModifiedBy>
  <cp:revision>1</cp:revision>
  <dcterms:created xsi:type="dcterms:W3CDTF">2026-04-04T14:43:44Z</dcterms:created>
  <dcterms:modified xsi:type="dcterms:W3CDTF">2026-04-04T18:29:21Z</dcterms:modified>
</cp:coreProperties>
</file>